
<file path=[Content_Types].xml><?xml version="1.0" encoding="utf-8"?>
<Types xmlns="http://schemas.openxmlformats.org/package/2006/content-types">
  <Default Extension="emf" ContentType="image/x-emf"/>
  <Default Extension="g001" ContentType="image/pn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64" r:id="rId3"/>
    <p:sldId id="338" r:id="rId4"/>
    <p:sldId id="339" r:id="rId5"/>
    <p:sldId id="261" r:id="rId6"/>
    <p:sldId id="340" r:id="rId7"/>
    <p:sldId id="323" r:id="rId8"/>
    <p:sldId id="888" r:id="rId9"/>
    <p:sldId id="889" r:id="rId10"/>
    <p:sldId id="887" r:id="rId11"/>
    <p:sldId id="890" r:id="rId12"/>
    <p:sldId id="891" r:id="rId13"/>
    <p:sldId id="892" r:id="rId14"/>
    <p:sldId id="324" r:id="rId15"/>
    <p:sldId id="325" r:id="rId16"/>
    <p:sldId id="326" r:id="rId17"/>
    <p:sldId id="327" r:id="rId18"/>
    <p:sldId id="301" r:id="rId19"/>
    <p:sldId id="329" r:id="rId20"/>
    <p:sldId id="330" r:id="rId21"/>
    <p:sldId id="267" r:id="rId22"/>
    <p:sldId id="894" r:id="rId23"/>
    <p:sldId id="893" r:id="rId24"/>
    <p:sldId id="306" r:id="rId25"/>
    <p:sldId id="895" r:id="rId26"/>
    <p:sldId id="265" r:id="rId27"/>
    <p:sldId id="268" r:id="rId28"/>
    <p:sldId id="311" r:id="rId29"/>
    <p:sldId id="331" r:id="rId30"/>
    <p:sldId id="332" r:id="rId31"/>
    <p:sldId id="33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B71375"/>
    <a:srgbClr val="8B1874"/>
    <a:srgbClr val="F79640"/>
    <a:srgbClr val="FD4E00"/>
    <a:srgbClr val="0000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08"/>
    <p:restoredTop sz="94329"/>
  </p:normalViewPr>
  <p:slideViewPr>
    <p:cSldViewPr snapToGrid="0" showGuides="1">
      <p:cViewPr>
        <p:scale>
          <a:sx n="110" d="100"/>
          <a:sy n="110" d="100"/>
        </p:scale>
        <p:origin x="720" y="264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75762-5A71-044B-829A-B3547751F628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69F08E-063D-BD40-B34B-0BC8B62FFF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404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Recent years have witnessed a sea change in our understanding of transcription regulation: whereas traditional models focused solely on the events that brought RNA polymerase II (Pol II) to a gene promoter to initiate RNA synthesis, emerging evidence points to the pausing of Pol II during early elongation as a widespread regulatory mechanism in higher eukaryotes. Current data indicate that pausing is particularly enriched at genes in signal-responsive pathways. Here the evidence for pausing of Pol II from recent high-throughput studies will be discussed, as well as the potential interconnected functions of promoter-proximally paused Pol II.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BF2939-7963-B442-AEA3-2BDA076B371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548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D45D1-0EFD-4965-7091-B937EF233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9988DB-789D-C7D7-7003-47CC58E0DE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68D62E-CAEB-2270-91D3-41AE138C46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Recent years have witnessed a sea change in our understanding of transcription regulation: whereas traditional models focused solely on the events that brought RNA polymerase II (Pol II) to a gene promoter to initiate RNA synthesis, emerging evidence points to the pausing of Pol II during early elongation as a widespread regulatory mechanism in higher eukaryotes. Current data indicate that pausing is particularly enriched at genes in signal-responsive pathways. Here the evidence for pausing of Pol II from recent high-throughput studies will be discussed, as well as the potential interconnected functions of promoter-proximally paused Pol II.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A8D90-2BB6-E7F8-D054-4EA811A143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BF2939-7963-B442-AEA3-2BDA076B371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023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D76D2-5CE8-192A-9692-943E73065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CEEDE2-D6AE-B069-DAFD-F63037F04E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018D82-C800-F6AC-ECB4-A04B1FAE55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Recent years have witnessed a sea change in our understanding of transcription regulation: whereas traditional models focused solely on the events that brought RNA polymerase II (Pol II) to a gene promoter to initiate RNA synthesis, emerging evidence points to the pausing of Pol II during early elongation as a widespread regulatory mechanism in higher eukaryotes. Current data indicate that pausing is particularly enriched at genes in signal-responsive pathways. Here the evidence for pausing of Pol II from recent high-throughput studies will be discussed, as well as the potential interconnected functions of promoter-proximally paused Pol II.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1745D-1CCE-8B0B-0541-F5AA39253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BF2939-7963-B442-AEA3-2BDA076B37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4591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established that promoters and enhancers share remarkably similar transcription initiation mechanisms.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BF2939-7963-B442-AEA3-2BDA076B37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606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221BB-BFED-4F67-26EC-C5C2147E1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2F601B-916F-C728-BFF1-56A81F9D60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917D33-6F0D-7861-B62E-A5CE74894D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established that promoters and enhancers share remarkably similar transcription initiation mechanisms.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D891F4-7D65-D8F8-ED4F-0AADF7F9F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BF2939-7963-B442-AEA3-2BDA076B37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16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7B43E-071B-A256-FF3E-B359ABE3F4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82501E-5AE2-721F-5C6A-555F856420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47A23-5EA7-DD50-86DF-E397C4DC3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CED2-E817-D24E-BACA-E88711FA46C1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9566B-5041-B6F3-BA98-9F0120F5F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660F1-5482-ECB8-3F8F-133EE777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5BC38-BCA0-534C-BD7F-C8966BFE1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99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2549A-FE99-7216-4B7C-8432AE2A9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5A3FA-F074-5C29-DAE4-D42913616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AD346E-8BA7-9247-9F4B-29577CB3B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CED2-E817-D24E-BACA-E88711FA46C1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95A21-1C01-E123-F5BE-5AF3AB6D2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EABDEC-B009-4E9F-42A2-4E615CD05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5BC38-BCA0-534C-BD7F-C8966BFE1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619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CD607-AAF6-6A7C-4FDB-E4E4EC24A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D1E503-A424-128D-574A-AC6FEDF9DA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801D8-1FA9-D752-1371-489BC2340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CED2-E817-D24E-BACA-E88711FA46C1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ABE9F-F615-6EE0-3501-A94EA1DF0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D0959-911B-C215-F8A4-62D2437ED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5BC38-BCA0-534C-BD7F-C8966BFE1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005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914F9-AE16-3C51-0E24-C97248ACC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8FEA2-6166-CB53-41E3-236C330FD8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6FC097-91BC-4B3B-98E2-8A0AC8886F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C627AA-A0E8-906B-04D5-EF8FF95AA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CED2-E817-D24E-BACA-E88711FA46C1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556FEE-A649-5D2F-91B1-81B44B90A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DD2CDE-519F-DC5F-5347-83732F5D6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5BC38-BCA0-534C-BD7F-C8966BFE1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259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CAAAA-4F50-7712-835B-9058E6EF6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70251-59A5-8AAE-5E7C-AE3B59E82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2F4E20-8557-9846-84CD-EE8251FEF0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BF5C0EB-7A1F-AF94-351A-4120026B8F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A42F17-AA77-0CF6-021B-CE22283394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12EB34-B7EF-AC98-8A32-D0FCF53F4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CED2-E817-D24E-BACA-E88711FA46C1}" type="datetimeFigureOut">
              <a:rPr lang="en-US" smtClean="0"/>
              <a:t>6/25/26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5DC150-1F5A-74A5-CF87-FF658DA05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4978AD-6BEC-2770-B39E-F0EFCE8E5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5BC38-BCA0-534C-BD7F-C8966BFE1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485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413D9-82FA-6136-031A-0D80CE61F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2B6BC3-A22D-734A-6F6F-823B84E7F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CED2-E817-D24E-BACA-E88711FA46C1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304DC8-E1E4-DABF-2D7E-C7052C78F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76ADF9-78EF-0016-F554-68DC61C40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5BC38-BCA0-534C-BD7F-C8966BFE1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741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4E8522-D5A8-928D-76DA-95104CDA2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CED2-E817-D24E-BACA-E88711FA46C1}" type="datetimeFigureOut">
              <a:rPr lang="en-US" smtClean="0"/>
              <a:t>6/25/26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10261A-8E5C-9D5A-D0D5-2D543A66C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C80334-5E4C-44D5-72B7-FC51A693F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5BC38-BCA0-534C-BD7F-C8966BFE1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651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B6636-3CF5-D3AE-4936-7FA59F542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3016D-58B9-F638-8312-69C9C65BD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A58964-5090-3B8B-0993-956052E6C3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D6DA67-AA08-5CED-0093-11AD3DF8E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CED2-E817-D24E-BACA-E88711FA46C1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3BCE14-2F12-51CB-30B5-EEFDE106F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1B612-2205-B0B4-3D22-B3EA85796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5BC38-BCA0-534C-BD7F-C8966BFE1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817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44509-F66A-D9FA-0ECE-F16108E9C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8CFC52-23BB-3D63-FD9E-553064FBC3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FA0950-89FB-3E15-89A7-6DE1CE0BE8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935B09-27BB-A8BC-FD94-09F22637C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CED2-E817-D24E-BACA-E88711FA46C1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452D8-85DA-F478-1BBA-57D9A1032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1B3BB-2EDE-7404-0C0A-8E10D7290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5BC38-BCA0-534C-BD7F-C8966BFE1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744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D00DE-AB7E-EB1B-BFE9-1E422DDFB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4A0745-C249-8504-F62C-ACA0C4DF8D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DE146-63C0-DB98-5959-19D6241C0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CED2-E817-D24E-BACA-E88711FA46C1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EA5B46-89D0-3517-105D-C4B38FAAF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599CE-6203-CBD4-FE93-53A492330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5BC38-BCA0-534C-BD7F-C8966BFE1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809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8EB86A-4C98-DECE-3A38-F689FABEF0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5105AC-1C4A-395A-50AA-6D3F915D15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C7124-F275-FD85-B5AA-A33947889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BCED2-E817-D24E-BACA-E88711FA46C1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3180F6-A761-B35D-E3A1-F976D5766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BF43AC-92CC-E39B-6A9D-D76FF80C1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5BC38-BCA0-534C-BD7F-C8966BFE1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318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8521B6-0650-A0B9-89D9-CDB081980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2C3154-138D-1619-DA84-682519F467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151BF-225D-C9FF-BD57-BCDD824E1B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3BCED2-E817-D24E-BACA-E88711FA46C1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F5F3B-EC9E-B0F5-F0E7-F7CD518804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D71EC-B6CF-E257-6ED9-1C05192DEC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5BC38-BCA0-534C-BD7F-C8966BFE16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167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microsoft.com/office/2007/relationships/hdphoto" Target="../media/hdphoto1.wdp"/><Relationship Id="rId7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microsoft.com/office/2007/relationships/hdphoto" Target="../media/hdphoto2.wdp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microsoft.com/office/2007/relationships/hdphoto" Target="../media/hdphoto1.wdp"/><Relationship Id="rId7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microsoft.com/office/2007/relationships/hdphoto" Target="../media/hdphoto2.wdp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g001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tif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tif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microsoft.com/office/2007/relationships/hdphoto" Target="../media/hdphoto1.wdp"/><Relationship Id="rId7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microsoft.com/office/2007/relationships/hdphoto" Target="../media/hdphoto2.wdp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8E72D4-4167-670E-6842-56FEA1C15FE0}"/>
              </a:ext>
            </a:extLst>
          </p:cNvPr>
          <p:cNvSpPr txBox="1"/>
          <p:nvPr/>
        </p:nvSpPr>
        <p:spPr>
          <a:xfrm>
            <a:off x="6360868" y="1796581"/>
            <a:ext cx="553709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Genomics of Gene Regulation: </a:t>
            </a:r>
            <a:b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Concepts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and Techniques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1DD6FE-85C5-6BE1-A853-F4BCDE632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11800" cy="68579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E4F4A33-7855-C0AE-8DAE-6CC5D24BD26B}"/>
              </a:ext>
            </a:extLst>
          </p:cNvPr>
          <p:cNvSpPr txBox="1"/>
          <p:nvPr/>
        </p:nvSpPr>
        <p:spPr>
          <a:xfrm>
            <a:off x="6962251" y="5449577"/>
            <a:ext cx="4935710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i="0" dirty="0">
                <a:effectLst/>
                <a:latin typeface="Arial" panose="020B0604020202020204" pitchFamily="34" charset="0"/>
              </a:rPr>
              <a:t>Ana Azambuja</a:t>
            </a:r>
          </a:p>
          <a:p>
            <a:pPr algn="r"/>
            <a:r>
              <a:rPr lang="en-US" sz="2000" dirty="0"/>
              <a:t>Senior Research Associate</a:t>
            </a:r>
          </a:p>
          <a:p>
            <a:pPr algn="r"/>
            <a:r>
              <a:rPr lang="en-US" dirty="0"/>
              <a:t>Pathology Department - Boston Children’s Hospital</a:t>
            </a:r>
          </a:p>
        </p:txBody>
      </p:sp>
    </p:spTree>
    <p:extLst>
      <p:ext uri="{BB962C8B-B14F-4D97-AF65-F5344CB8AC3E}">
        <p14:creationId xmlns:p14="http://schemas.microsoft.com/office/powerpoint/2010/main" val="1108495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8E72D4-4167-670E-6842-56FEA1C15FE0}"/>
              </a:ext>
            </a:extLst>
          </p:cNvPr>
          <p:cNvSpPr txBox="1"/>
          <p:nvPr/>
        </p:nvSpPr>
        <p:spPr>
          <a:xfrm>
            <a:off x="6360868" y="1796581"/>
            <a:ext cx="553709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Genomics of Gene Regulation: </a:t>
            </a:r>
            <a:b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Concepts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sz="2800" b="1" dirty="0">
                <a:solidFill>
                  <a:srgbClr val="FD4E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Techniques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2790BE-7B63-F934-21DE-A1247EA1B20E}"/>
              </a:ext>
            </a:extLst>
          </p:cNvPr>
          <p:cNvSpPr txBox="1"/>
          <p:nvPr/>
        </p:nvSpPr>
        <p:spPr>
          <a:xfrm>
            <a:off x="6962251" y="5449577"/>
            <a:ext cx="4935710" cy="1046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i="0" dirty="0">
                <a:effectLst/>
                <a:latin typeface="Arial" panose="020B0604020202020204" pitchFamily="34" charset="0"/>
              </a:rPr>
              <a:t>Ana Azambuja</a:t>
            </a:r>
          </a:p>
          <a:p>
            <a:pPr algn="r"/>
            <a:r>
              <a:rPr lang="en-US" sz="2000" dirty="0"/>
              <a:t>Senior Research Associate</a:t>
            </a:r>
          </a:p>
          <a:p>
            <a:pPr algn="r"/>
            <a:r>
              <a:rPr lang="en-US" dirty="0"/>
              <a:t>Pathology Department - Boston Children’s Hospital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D5EFCA-4540-E56F-89D0-226EAE644EE8}"/>
              </a:ext>
            </a:extLst>
          </p:cNvPr>
          <p:cNvSpPr txBox="1"/>
          <p:nvPr/>
        </p:nvSpPr>
        <p:spPr>
          <a:xfrm>
            <a:off x="9199786" y="3428999"/>
            <a:ext cx="2698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Chromatin Conformation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1A371F-08B2-9E25-461E-E2E64534B8FC}"/>
              </a:ext>
            </a:extLst>
          </p:cNvPr>
          <p:cNvSpPr txBox="1"/>
          <p:nvPr/>
        </p:nvSpPr>
        <p:spPr>
          <a:xfrm>
            <a:off x="9687099" y="3730800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dirty="0">
                <a:effectLst/>
                <a:latin typeface="Arial" panose="020B0604020202020204" pitchFamily="34" charset="0"/>
              </a:rPr>
              <a:t>Enhancer activation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1DD6FE-85C5-6BE1-A853-F4BCDE632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118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531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832CC27-7EE7-7FCC-2DE5-BF06DF235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830984"/>
            <a:ext cx="6858000" cy="519603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D24DE2D-6810-DAB2-E9AF-95F67CF726A5}"/>
              </a:ext>
            </a:extLst>
          </p:cNvPr>
          <p:cNvSpPr/>
          <p:nvPr/>
        </p:nvSpPr>
        <p:spPr>
          <a:xfrm>
            <a:off x="2666999" y="717001"/>
            <a:ext cx="6858000" cy="1774948"/>
          </a:xfrm>
          <a:prstGeom prst="rect">
            <a:avLst/>
          </a:prstGeom>
          <a:solidFill>
            <a:srgbClr val="B71375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A716EA-D196-F763-5C9D-69E493146285}"/>
              </a:ext>
            </a:extLst>
          </p:cNvPr>
          <p:cNvSpPr/>
          <p:nvPr/>
        </p:nvSpPr>
        <p:spPr>
          <a:xfrm>
            <a:off x="2666999" y="4547024"/>
            <a:ext cx="6858000" cy="1774948"/>
          </a:xfrm>
          <a:prstGeom prst="rect">
            <a:avLst/>
          </a:prstGeom>
          <a:solidFill>
            <a:srgbClr val="F7964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0A6BE8-F5B6-B431-3345-3344A1A78B8C}"/>
              </a:ext>
            </a:extLst>
          </p:cNvPr>
          <p:cNvSpPr/>
          <p:nvPr/>
        </p:nvSpPr>
        <p:spPr>
          <a:xfrm>
            <a:off x="2666999" y="2649270"/>
            <a:ext cx="6858000" cy="1774948"/>
          </a:xfrm>
          <a:prstGeom prst="rect">
            <a:avLst/>
          </a:prstGeom>
          <a:solidFill>
            <a:srgbClr val="FD4E00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D62E8C-333F-F57F-979A-64034611239E}"/>
              </a:ext>
            </a:extLst>
          </p:cNvPr>
          <p:cNvSpPr txBox="1"/>
          <p:nvPr/>
        </p:nvSpPr>
        <p:spPr>
          <a:xfrm>
            <a:off x="1844039" y="0"/>
            <a:ext cx="10347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Cellular transitions are controlled by GENE REGULATORY NETWORKS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8AACF97-F02A-86F6-7A3F-BFDCE4964F2C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56937" y="1714855"/>
            <a:ext cx="1590043" cy="117434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A6B7191-3C19-9771-3368-C56AFC2B5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466" y="4971484"/>
            <a:ext cx="1140983" cy="986035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AAFC111-D52D-8614-9F91-92CDD79ADC0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738" t="3898"/>
          <a:stretch/>
        </p:blipFill>
        <p:spPr>
          <a:xfrm>
            <a:off x="783382" y="203221"/>
            <a:ext cx="1150003" cy="94098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18996E6-DA16-4893-E76B-6B279B4C380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9374" b="5114"/>
          <a:stretch/>
        </p:blipFill>
        <p:spPr>
          <a:xfrm>
            <a:off x="783382" y="3459852"/>
            <a:ext cx="1034021" cy="94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63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E3E70-9634-B9C3-88C4-1531BFD8F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4AE495-718B-D248-6F71-2D4A10B72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0272" y="4852145"/>
            <a:ext cx="2053728" cy="16946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794DDB-F4F8-17BF-DE3D-32F6967BC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1426" y="710561"/>
            <a:ext cx="3478357" cy="11097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E2E597-78D2-63D4-A802-CF1A1EAD1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079" y="2282986"/>
            <a:ext cx="5118538" cy="528853"/>
          </a:xfrm>
          <a:prstGeom prst="rect">
            <a:avLst/>
          </a:prstGeom>
        </p:spPr>
      </p:pic>
      <p:sp>
        <p:nvSpPr>
          <p:cNvPr id="16" name="Rectangle 7">
            <a:extLst>
              <a:ext uri="{FF2B5EF4-FFF2-40B4-BE49-F238E27FC236}">
                <a16:creationId xmlns:a16="http://schemas.microsoft.com/office/drawing/2014/main" id="{3107532E-EC12-D6F5-AB00-845177C75874}"/>
              </a:ext>
            </a:extLst>
          </p:cNvPr>
          <p:cNvSpPr>
            <a:spLocks/>
          </p:cNvSpPr>
          <p:nvPr/>
        </p:nvSpPr>
        <p:spPr bwMode="auto">
          <a:xfrm>
            <a:off x="8891682" y="6546751"/>
            <a:ext cx="311623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r" hangingPunct="0"/>
            <a:r>
              <a:rPr lang="en-US" dirty="0">
                <a:latin typeface="Arial" charset="0"/>
                <a:cs typeface="Arial" charset="0"/>
                <a:sym typeface="Arial" charset="0"/>
              </a:rPr>
              <a:t>Enhancer-promoter interaction</a:t>
            </a:r>
            <a:endParaRPr lang="en-US" dirty="0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DE893128-BFB3-390E-A698-55B3CAB8477B}"/>
              </a:ext>
            </a:extLst>
          </p:cNvPr>
          <p:cNvSpPr>
            <a:spLocks/>
          </p:cNvSpPr>
          <p:nvPr/>
        </p:nvSpPr>
        <p:spPr bwMode="auto">
          <a:xfrm>
            <a:off x="7581298" y="1823499"/>
            <a:ext cx="438588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r" hangingPunct="0"/>
            <a:r>
              <a:rPr lang="en-US" dirty="0">
                <a:latin typeface="Arial" charset="0"/>
                <a:cs typeface="Arial" charset="0"/>
                <a:sym typeface="Arial" charset="0"/>
              </a:rPr>
              <a:t>DNA accessibility and active histone marks</a:t>
            </a:r>
            <a:endParaRPr lang="en-US" dirty="0"/>
          </a:p>
        </p:txBody>
      </p:sp>
      <p:sp>
        <p:nvSpPr>
          <p:cNvPr id="18" name="Rectangle 7">
            <a:extLst>
              <a:ext uri="{FF2B5EF4-FFF2-40B4-BE49-F238E27FC236}">
                <a16:creationId xmlns:a16="http://schemas.microsoft.com/office/drawing/2014/main" id="{951FAD84-15EC-85C3-1640-7B605A570EC0}"/>
              </a:ext>
            </a:extLst>
          </p:cNvPr>
          <p:cNvSpPr>
            <a:spLocks/>
          </p:cNvSpPr>
          <p:nvPr/>
        </p:nvSpPr>
        <p:spPr bwMode="auto">
          <a:xfrm>
            <a:off x="7733288" y="2811839"/>
            <a:ext cx="427463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r" hangingPunct="0"/>
            <a:r>
              <a:rPr lang="en-US" dirty="0">
                <a:latin typeface="Arial" charset="0"/>
                <a:cs typeface="Arial" charset="0"/>
                <a:sym typeface="Arial" charset="0"/>
              </a:rPr>
              <a:t>Tissue specific transcription factor binding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EDDD04-AA25-A587-CE94-F9AD53BBD836}"/>
              </a:ext>
            </a:extLst>
          </p:cNvPr>
          <p:cNvSpPr txBox="1"/>
          <p:nvPr/>
        </p:nvSpPr>
        <p:spPr>
          <a:xfrm>
            <a:off x="4744064" y="0"/>
            <a:ext cx="7447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Cis-regulatory features and how to identify them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EA1A13B-D64A-3898-FE28-9E80AA2A7D3B}"/>
              </a:ext>
            </a:extLst>
          </p:cNvPr>
          <p:cNvGrpSpPr/>
          <p:nvPr/>
        </p:nvGrpSpPr>
        <p:grpSpPr>
          <a:xfrm>
            <a:off x="8041879" y="3479371"/>
            <a:ext cx="3810000" cy="812965"/>
            <a:chOff x="289034" y="5239983"/>
            <a:chExt cx="6124226" cy="1306767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50EC7736-9D3B-3DCE-954E-6E94D42C317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47939"/>
            <a:stretch>
              <a:fillRect/>
            </a:stretch>
          </p:blipFill>
          <p:spPr>
            <a:xfrm>
              <a:off x="289034" y="5623033"/>
              <a:ext cx="6124226" cy="923717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89EFCEF-8E19-6C41-7183-3442CDE6624E}"/>
                </a:ext>
              </a:extLst>
            </p:cNvPr>
            <p:cNvSpPr/>
            <p:nvPr/>
          </p:nvSpPr>
          <p:spPr>
            <a:xfrm>
              <a:off x="5097517" y="5444359"/>
              <a:ext cx="735724" cy="56172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31336AC-3AE8-CC73-9CD7-1C71348D7ED9}"/>
                </a:ext>
              </a:extLst>
            </p:cNvPr>
            <p:cNvSpPr/>
            <p:nvPr/>
          </p:nvSpPr>
          <p:spPr>
            <a:xfrm>
              <a:off x="2694251" y="5342171"/>
              <a:ext cx="735724" cy="56172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F75526A-C281-AAAC-B31F-102AEAF7A909}"/>
                </a:ext>
              </a:extLst>
            </p:cNvPr>
            <p:cNvSpPr/>
            <p:nvPr/>
          </p:nvSpPr>
          <p:spPr>
            <a:xfrm>
              <a:off x="290985" y="5239983"/>
              <a:ext cx="735724" cy="56172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 7">
            <a:extLst>
              <a:ext uri="{FF2B5EF4-FFF2-40B4-BE49-F238E27FC236}">
                <a16:creationId xmlns:a16="http://schemas.microsoft.com/office/drawing/2014/main" id="{FFB94E74-60CD-378D-1E40-79CD86E33C8D}"/>
              </a:ext>
            </a:extLst>
          </p:cNvPr>
          <p:cNvSpPr>
            <a:spLocks/>
          </p:cNvSpPr>
          <p:nvPr/>
        </p:nvSpPr>
        <p:spPr bwMode="auto">
          <a:xfrm>
            <a:off x="8225001" y="4386606"/>
            <a:ext cx="379591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r" hangingPunct="0"/>
            <a:r>
              <a:rPr lang="en-US" dirty="0">
                <a:latin typeface="Arial" charset="0"/>
                <a:cs typeface="Arial" charset="0"/>
                <a:sym typeface="Arial" charset="0"/>
              </a:rPr>
              <a:t>Enhancer activation and transcription</a:t>
            </a:r>
            <a:endParaRPr lang="en-US" dirty="0"/>
          </a:p>
        </p:txBody>
      </p:sp>
      <p:sp>
        <p:nvSpPr>
          <p:cNvPr id="13" name="Pie 12">
            <a:extLst>
              <a:ext uri="{FF2B5EF4-FFF2-40B4-BE49-F238E27FC236}">
                <a16:creationId xmlns:a16="http://schemas.microsoft.com/office/drawing/2014/main" id="{E10D1366-380A-EC53-5832-AB5B46045DEC}"/>
              </a:ext>
            </a:extLst>
          </p:cNvPr>
          <p:cNvSpPr/>
          <p:nvPr/>
        </p:nvSpPr>
        <p:spPr>
          <a:xfrm rot="6753461">
            <a:off x="9622051" y="3959406"/>
            <a:ext cx="457708" cy="492965"/>
          </a:xfrm>
          <a:prstGeom prst="pie">
            <a:avLst>
              <a:gd name="adj1" fmla="val 1660866"/>
              <a:gd name="adj2" fmla="val 15304119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D722B5DD-2114-4216-5E73-D03415B37230}"/>
              </a:ext>
            </a:extLst>
          </p:cNvPr>
          <p:cNvSpPr>
            <a:spLocks/>
          </p:cNvSpPr>
          <p:nvPr/>
        </p:nvSpPr>
        <p:spPr bwMode="auto">
          <a:xfrm>
            <a:off x="9644226" y="4040224"/>
            <a:ext cx="384721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r" hangingPunct="0"/>
            <a:r>
              <a:rPr lang="en-US" sz="1200" dirty="0">
                <a:latin typeface="Arial" charset="0"/>
                <a:cs typeface="Arial" charset="0"/>
                <a:sym typeface="Arial" charset="0"/>
              </a:rPr>
              <a:t>Poll II</a:t>
            </a:r>
            <a:endParaRPr lang="en-US" sz="1200" dirty="0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C6D97658-0419-3F2D-1F11-B643638AE919}"/>
              </a:ext>
            </a:extLst>
          </p:cNvPr>
          <p:cNvSpPr/>
          <p:nvPr/>
        </p:nvSpPr>
        <p:spPr>
          <a:xfrm flipH="1">
            <a:off x="4875087" y="1046188"/>
            <a:ext cx="782595" cy="531341"/>
          </a:xfrm>
          <a:prstGeom prst="rightArrow">
            <a:avLst/>
          </a:prstGeom>
          <a:solidFill>
            <a:srgbClr val="8B18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238A7B15-2E28-FF19-34EB-B323E0FFC177}"/>
              </a:ext>
            </a:extLst>
          </p:cNvPr>
          <p:cNvSpPr/>
          <p:nvPr/>
        </p:nvSpPr>
        <p:spPr>
          <a:xfrm flipH="1">
            <a:off x="4875087" y="2600399"/>
            <a:ext cx="782595" cy="531341"/>
          </a:xfrm>
          <a:prstGeom prst="rightArrow">
            <a:avLst/>
          </a:prstGeom>
          <a:solidFill>
            <a:srgbClr val="8B18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CDEB3C4E-C0F8-31FA-BBD0-B83E90BB4330}"/>
              </a:ext>
            </a:extLst>
          </p:cNvPr>
          <p:cNvSpPr/>
          <p:nvPr/>
        </p:nvSpPr>
        <p:spPr>
          <a:xfrm flipH="1">
            <a:off x="4875087" y="5708820"/>
            <a:ext cx="782595" cy="531341"/>
          </a:xfrm>
          <a:prstGeom prst="rightArrow">
            <a:avLst/>
          </a:prstGeom>
          <a:solidFill>
            <a:srgbClr val="8B18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AEFD926-67B3-2C4A-FE66-99944B465EA6}"/>
              </a:ext>
            </a:extLst>
          </p:cNvPr>
          <p:cNvSpPr>
            <a:spLocks/>
          </p:cNvSpPr>
          <p:nvPr/>
        </p:nvSpPr>
        <p:spPr bwMode="auto">
          <a:xfrm>
            <a:off x="588297" y="642287"/>
            <a:ext cx="4172296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r" hangingPunct="0"/>
            <a:r>
              <a:rPr lang="en-US" b="1" dirty="0">
                <a:latin typeface="Arial" charset="0"/>
                <a:cs typeface="Arial" charset="0"/>
              </a:rPr>
              <a:t>DNase-seq</a:t>
            </a:r>
          </a:p>
          <a:p>
            <a:pPr algn="r" hangingPunct="0"/>
            <a:r>
              <a:rPr lang="en-US" dirty="0">
                <a:solidFill>
                  <a:srgbClr val="202124"/>
                </a:solidFill>
                <a:latin typeface="Google Sans"/>
              </a:rPr>
              <a:t>DNase 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I hypersensitive sites sequencing</a:t>
            </a:r>
            <a:br>
              <a:rPr lang="en-US" b="1" dirty="0">
                <a:latin typeface="Arial" charset="0"/>
                <a:cs typeface="Arial" charset="0"/>
                <a:sym typeface="Arial" charset="0"/>
              </a:rPr>
            </a:br>
            <a:endParaRPr lang="en-US" b="1" dirty="0">
              <a:latin typeface="Arial" charset="0"/>
              <a:cs typeface="Arial" charset="0"/>
              <a:sym typeface="Arial" charset="0"/>
            </a:endParaRPr>
          </a:p>
          <a:p>
            <a:pPr algn="r" hangingPunct="0"/>
            <a:r>
              <a:rPr lang="en-US" b="1" dirty="0" err="1">
                <a:latin typeface="Arial" charset="0"/>
                <a:cs typeface="Arial" charset="0"/>
                <a:sym typeface="Arial" charset="0"/>
              </a:rPr>
              <a:t>ATACseq</a:t>
            </a:r>
            <a:endParaRPr lang="en-US" b="1" dirty="0">
              <a:latin typeface="Arial" charset="0"/>
              <a:cs typeface="Arial" charset="0"/>
              <a:sym typeface="Arial" charset="0"/>
            </a:endParaRPr>
          </a:p>
          <a:p>
            <a:pPr algn="r" hangingPunct="0"/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Assay for Transposase-Accessible </a:t>
            </a:r>
            <a:r>
              <a:rPr lang="en-US" dirty="0">
                <a:solidFill>
                  <a:srgbClr val="202124"/>
                </a:solidFill>
                <a:latin typeface="Google Sans"/>
              </a:rPr>
              <a:t>C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hromatin</a:t>
            </a:r>
            <a:r>
              <a:rPr lang="en-US" dirty="0">
                <a:solidFill>
                  <a:srgbClr val="202124"/>
                </a:solidFill>
                <a:latin typeface="Google Sans"/>
              </a:rPr>
              <a:t> 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C215A7-670F-AE1D-82C9-15FA7AF2BE71}"/>
              </a:ext>
            </a:extLst>
          </p:cNvPr>
          <p:cNvSpPr>
            <a:spLocks/>
          </p:cNvSpPr>
          <p:nvPr/>
        </p:nvSpPr>
        <p:spPr bwMode="auto">
          <a:xfrm>
            <a:off x="1144410" y="5711895"/>
            <a:ext cx="3616183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r" hangingPunct="0"/>
            <a:r>
              <a:rPr lang="en-US" b="1" dirty="0" err="1">
                <a:latin typeface="Arial" charset="0"/>
                <a:cs typeface="Arial" charset="0"/>
                <a:sym typeface="Arial" charset="0"/>
              </a:rPr>
              <a:t>HiC</a:t>
            </a:r>
            <a:endParaRPr lang="en-US" b="1" dirty="0">
              <a:latin typeface="Arial" charset="0"/>
              <a:cs typeface="Arial" charset="0"/>
              <a:sym typeface="Arial" charset="0"/>
            </a:endParaRPr>
          </a:p>
          <a:p>
            <a:pPr algn="r" hangingPunct="0"/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map chromatin contacts genome-wide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522598-57D2-A8FD-7B09-D832777095DC}"/>
              </a:ext>
            </a:extLst>
          </p:cNvPr>
          <p:cNvSpPr>
            <a:spLocks/>
          </p:cNvSpPr>
          <p:nvPr/>
        </p:nvSpPr>
        <p:spPr bwMode="auto">
          <a:xfrm>
            <a:off x="102844" y="2191021"/>
            <a:ext cx="4657749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r" hangingPunct="0"/>
            <a:r>
              <a:rPr lang="en-US" b="1" dirty="0" err="1">
                <a:latin typeface="Arial" charset="0"/>
                <a:cs typeface="Arial" charset="0"/>
                <a:sym typeface="Arial" charset="0"/>
              </a:rPr>
              <a:t>ChIPseq</a:t>
            </a:r>
            <a:endParaRPr lang="en-US" b="1" dirty="0">
              <a:latin typeface="Arial" charset="0"/>
              <a:cs typeface="Arial" charset="0"/>
              <a:sym typeface="Arial" charset="0"/>
            </a:endParaRPr>
          </a:p>
          <a:p>
            <a:pPr algn="r" hangingPunct="0"/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Chromatin </a:t>
            </a:r>
            <a:r>
              <a:rPr lang="en-US" dirty="0">
                <a:solidFill>
                  <a:srgbClr val="040C28"/>
                </a:solidFill>
                <a:latin typeface="Google Sans"/>
              </a:rPr>
              <a:t>Immunoprecipitation</a:t>
            </a:r>
          </a:p>
          <a:p>
            <a:pPr algn="r" hangingPunct="0"/>
            <a:endParaRPr lang="en-US" b="1" dirty="0">
              <a:latin typeface="Arial" charset="0"/>
              <a:cs typeface="Arial" charset="0"/>
              <a:sym typeface="Arial" charset="0"/>
            </a:endParaRPr>
          </a:p>
          <a:p>
            <a:pPr algn="r" hangingPunct="0"/>
            <a:r>
              <a:rPr lang="en-US" b="1" dirty="0">
                <a:latin typeface="Arial" charset="0"/>
                <a:cs typeface="Arial" charset="0"/>
                <a:sym typeface="Arial" charset="0"/>
              </a:rPr>
              <a:t>CUT&amp;RUN</a:t>
            </a:r>
            <a:r>
              <a:rPr lang="en-US" b="1" dirty="0">
                <a:solidFill>
                  <a:srgbClr val="040C28"/>
                </a:solidFill>
                <a:latin typeface="Google Sans"/>
              </a:rPr>
              <a:t> </a:t>
            </a:r>
          </a:p>
          <a:p>
            <a:pPr algn="r" hangingPunct="0"/>
            <a:r>
              <a:rPr lang="en-US" dirty="0">
                <a:solidFill>
                  <a:srgbClr val="040C28"/>
                </a:solidFill>
                <a:latin typeface="Google Sans"/>
              </a:rPr>
              <a:t>Cleavage Under Targets &amp; Release Using Nuclease</a:t>
            </a: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ECF924ED-F2A6-CAEA-4869-212EFB002F8B}"/>
              </a:ext>
            </a:extLst>
          </p:cNvPr>
          <p:cNvSpPr/>
          <p:nvPr/>
        </p:nvSpPr>
        <p:spPr>
          <a:xfrm flipH="1">
            <a:off x="4875087" y="4154610"/>
            <a:ext cx="782595" cy="531341"/>
          </a:xfrm>
          <a:prstGeom prst="rightArrow">
            <a:avLst/>
          </a:prstGeom>
          <a:solidFill>
            <a:srgbClr val="8B18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E6EFD6B-A4CC-2159-E3F9-56C87EFD5929}"/>
              </a:ext>
            </a:extLst>
          </p:cNvPr>
          <p:cNvSpPr>
            <a:spLocks/>
          </p:cNvSpPr>
          <p:nvPr/>
        </p:nvSpPr>
        <p:spPr bwMode="auto">
          <a:xfrm>
            <a:off x="2231068" y="4139200"/>
            <a:ext cx="2512996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r" hangingPunct="0"/>
            <a:r>
              <a:rPr lang="en-US" b="1" dirty="0" err="1">
                <a:latin typeface="Arial" charset="0"/>
                <a:cs typeface="Arial" charset="0"/>
                <a:sym typeface="Arial" charset="0"/>
              </a:rPr>
              <a:t>PROseq</a:t>
            </a:r>
            <a:r>
              <a:rPr lang="en-US" b="1" dirty="0">
                <a:latin typeface="Arial" charset="0"/>
                <a:cs typeface="Arial" charset="0"/>
                <a:sym typeface="Arial" charset="0"/>
              </a:rPr>
              <a:t> / </a:t>
            </a:r>
            <a:r>
              <a:rPr lang="en-US" b="1" dirty="0" err="1">
                <a:latin typeface="Arial" charset="0"/>
                <a:cs typeface="Arial" charset="0"/>
                <a:sym typeface="Arial" charset="0"/>
              </a:rPr>
              <a:t>GROseq</a:t>
            </a:r>
            <a:endParaRPr lang="en-US" b="1" dirty="0">
              <a:latin typeface="Arial" charset="0"/>
              <a:cs typeface="Arial" charset="0"/>
              <a:sym typeface="Arial" charset="0"/>
            </a:endParaRPr>
          </a:p>
          <a:p>
            <a:pPr algn="r" hangingPunct="0"/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“nascent” RNA sequencing</a:t>
            </a:r>
            <a:endParaRPr lang="en-US" b="1" dirty="0"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66EFF91-ABF5-7E1A-59E8-F4D20A911711}"/>
              </a:ext>
            </a:extLst>
          </p:cNvPr>
          <p:cNvSpPr/>
          <p:nvPr/>
        </p:nvSpPr>
        <p:spPr>
          <a:xfrm>
            <a:off x="96760" y="3606517"/>
            <a:ext cx="11975791" cy="1245628"/>
          </a:xfrm>
          <a:prstGeom prst="rect">
            <a:avLst/>
          </a:prstGeom>
          <a:noFill/>
          <a:ln w="38100">
            <a:solidFill>
              <a:srgbClr val="F796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205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832CC27-7EE7-7FCC-2DE5-BF06DF2350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830984"/>
            <a:ext cx="6858000" cy="519603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6065448-FBE3-31F5-E941-3AF58B68274B}"/>
              </a:ext>
            </a:extLst>
          </p:cNvPr>
          <p:cNvSpPr txBox="1"/>
          <p:nvPr/>
        </p:nvSpPr>
        <p:spPr>
          <a:xfrm>
            <a:off x="1844039" y="0"/>
            <a:ext cx="10347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Cellular transitions are controlled by GENE REGULATORY NETWORKS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0C723E4-DB81-FB2F-BA16-2C536FD06B6B}"/>
              </a:ext>
            </a:extLst>
          </p:cNvPr>
          <p:cNvCxnSpPr>
            <a:cxnSpLocks/>
          </p:cNvCxnSpPr>
          <p:nvPr/>
        </p:nvCxnSpPr>
        <p:spPr>
          <a:xfrm>
            <a:off x="7210097" y="1797270"/>
            <a:ext cx="409903" cy="0"/>
          </a:xfrm>
          <a:prstGeom prst="straightConnector1">
            <a:avLst/>
          </a:prstGeom>
          <a:ln w="38100">
            <a:solidFill>
              <a:srgbClr val="B7137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2813023-A6AB-F95C-B0C1-056064665072}"/>
              </a:ext>
            </a:extLst>
          </p:cNvPr>
          <p:cNvCxnSpPr>
            <a:cxnSpLocks/>
          </p:cNvCxnSpPr>
          <p:nvPr/>
        </p:nvCxnSpPr>
        <p:spPr>
          <a:xfrm>
            <a:off x="7210097" y="1797270"/>
            <a:ext cx="0" cy="596326"/>
          </a:xfrm>
          <a:prstGeom prst="line">
            <a:avLst/>
          </a:prstGeom>
          <a:ln w="38100">
            <a:solidFill>
              <a:srgbClr val="B713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789A5DB-4D92-A063-1470-5370C06DEAF3}"/>
              </a:ext>
            </a:extLst>
          </p:cNvPr>
          <p:cNvCxnSpPr>
            <a:cxnSpLocks/>
          </p:cNvCxnSpPr>
          <p:nvPr/>
        </p:nvCxnSpPr>
        <p:spPr>
          <a:xfrm>
            <a:off x="4398106" y="3704898"/>
            <a:ext cx="409903" cy="0"/>
          </a:xfrm>
          <a:prstGeom prst="straightConnector1">
            <a:avLst/>
          </a:prstGeom>
          <a:ln w="38100">
            <a:solidFill>
              <a:srgbClr val="FD4E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0F98DCB-02AA-D4D7-64AC-D801D39C1DE4}"/>
              </a:ext>
            </a:extLst>
          </p:cNvPr>
          <p:cNvCxnSpPr>
            <a:cxnSpLocks/>
          </p:cNvCxnSpPr>
          <p:nvPr/>
        </p:nvCxnSpPr>
        <p:spPr>
          <a:xfrm>
            <a:off x="4398106" y="3704898"/>
            <a:ext cx="0" cy="596326"/>
          </a:xfrm>
          <a:prstGeom prst="line">
            <a:avLst/>
          </a:prstGeom>
          <a:ln w="38100">
            <a:solidFill>
              <a:srgbClr val="FD4E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CD46F82-A10C-AB89-6D75-DB95A667AB7A}"/>
              </a:ext>
            </a:extLst>
          </p:cNvPr>
          <p:cNvCxnSpPr>
            <a:cxnSpLocks/>
          </p:cNvCxnSpPr>
          <p:nvPr/>
        </p:nvCxnSpPr>
        <p:spPr>
          <a:xfrm>
            <a:off x="6368321" y="5412828"/>
            <a:ext cx="409903" cy="0"/>
          </a:xfrm>
          <a:prstGeom prst="straightConnector1">
            <a:avLst/>
          </a:prstGeom>
          <a:ln w="38100">
            <a:solidFill>
              <a:srgbClr val="F7964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DD806F0-2B3F-55F6-710F-1ABE9944499A}"/>
              </a:ext>
            </a:extLst>
          </p:cNvPr>
          <p:cNvCxnSpPr>
            <a:cxnSpLocks/>
          </p:cNvCxnSpPr>
          <p:nvPr/>
        </p:nvCxnSpPr>
        <p:spPr>
          <a:xfrm>
            <a:off x="6368321" y="5412828"/>
            <a:ext cx="0" cy="596326"/>
          </a:xfrm>
          <a:prstGeom prst="line">
            <a:avLst/>
          </a:prstGeom>
          <a:ln w="38100">
            <a:solidFill>
              <a:srgbClr val="F796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0408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83997-0E35-9E83-46FF-2C916050F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EA2F58-D329-1AD5-DB95-D14B5A4DC9D1}"/>
              </a:ext>
            </a:extLst>
          </p:cNvPr>
          <p:cNvSpPr/>
          <p:nvPr/>
        </p:nvSpPr>
        <p:spPr>
          <a:xfrm>
            <a:off x="0" y="3741251"/>
            <a:ext cx="3938155" cy="25873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7EB1B0-A03F-5D71-3291-A0891859B5A6}"/>
              </a:ext>
            </a:extLst>
          </p:cNvPr>
          <p:cNvSpPr/>
          <p:nvPr/>
        </p:nvSpPr>
        <p:spPr>
          <a:xfrm>
            <a:off x="0" y="841664"/>
            <a:ext cx="3938155" cy="25873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67B620-D7D7-442B-672F-12894EC9D17A}"/>
              </a:ext>
            </a:extLst>
          </p:cNvPr>
          <p:cNvSpPr/>
          <p:nvPr/>
        </p:nvSpPr>
        <p:spPr>
          <a:xfrm>
            <a:off x="4126923" y="841664"/>
            <a:ext cx="3938155" cy="25873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6F1E5A-FAA3-FC5C-7C9C-0B73F07B4134}"/>
              </a:ext>
            </a:extLst>
          </p:cNvPr>
          <p:cNvSpPr/>
          <p:nvPr/>
        </p:nvSpPr>
        <p:spPr>
          <a:xfrm>
            <a:off x="8253845" y="841664"/>
            <a:ext cx="3938155" cy="25873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FE7324-D4B1-0386-C47F-96DBD95E1CBC}"/>
              </a:ext>
            </a:extLst>
          </p:cNvPr>
          <p:cNvSpPr txBox="1"/>
          <p:nvPr/>
        </p:nvSpPr>
        <p:spPr>
          <a:xfrm>
            <a:off x="7041615" y="0"/>
            <a:ext cx="51503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Topics to be covered - Techniques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0DDD67-0D92-70AF-EE47-B365BC3EEB6B}"/>
              </a:ext>
            </a:extLst>
          </p:cNvPr>
          <p:cNvSpPr txBox="1"/>
          <p:nvPr/>
        </p:nvSpPr>
        <p:spPr>
          <a:xfrm>
            <a:off x="1788677" y="841664"/>
            <a:ext cx="21474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8B1874"/>
                </a:solidFill>
              </a:rPr>
              <a:t>GENE EXPRESSION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0EF707-9FD5-4D5A-3720-772043B1D21E}"/>
              </a:ext>
            </a:extLst>
          </p:cNvPr>
          <p:cNvSpPr txBox="1"/>
          <p:nvPr/>
        </p:nvSpPr>
        <p:spPr>
          <a:xfrm>
            <a:off x="5340229" y="826533"/>
            <a:ext cx="2724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D4E00"/>
                </a:solidFill>
              </a:rPr>
              <a:t>EPIGENOMIC REGULATION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612162-9437-4B48-7B49-AE7D6F8615F4}"/>
              </a:ext>
            </a:extLst>
          </p:cNvPr>
          <p:cNvSpPr txBox="1"/>
          <p:nvPr/>
        </p:nvSpPr>
        <p:spPr>
          <a:xfrm>
            <a:off x="9758833" y="826533"/>
            <a:ext cx="24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79640"/>
                </a:solidFill>
              </a:rPr>
              <a:t>DNA-PROTEIN BINDING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8C0222-2DB2-DF75-33BB-E3E82BD2F896}"/>
              </a:ext>
            </a:extLst>
          </p:cNvPr>
          <p:cNvSpPr txBox="1"/>
          <p:nvPr/>
        </p:nvSpPr>
        <p:spPr>
          <a:xfrm>
            <a:off x="3017283" y="1434842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RNAseq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7EAECB-B57D-E2A4-DA6B-9F8A5F43DBD6}"/>
              </a:ext>
            </a:extLst>
          </p:cNvPr>
          <p:cNvSpPr txBox="1"/>
          <p:nvPr/>
        </p:nvSpPr>
        <p:spPr>
          <a:xfrm>
            <a:off x="7089362" y="1434842"/>
            <a:ext cx="975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ATACseq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3B826B-CF22-9C8B-AA7E-285EF4F22784}"/>
              </a:ext>
            </a:extLst>
          </p:cNvPr>
          <p:cNvSpPr txBox="1"/>
          <p:nvPr/>
        </p:nvSpPr>
        <p:spPr>
          <a:xfrm>
            <a:off x="8662808" y="1434842"/>
            <a:ext cx="35291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/>
              <a:t>ChIPseq</a:t>
            </a:r>
            <a:br>
              <a:rPr lang="en-US" dirty="0"/>
            </a:br>
            <a:r>
              <a:rPr lang="en-US" dirty="0"/>
              <a:t>CUT&amp;RUN</a:t>
            </a:r>
            <a:br>
              <a:rPr lang="en-US" dirty="0"/>
            </a:br>
            <a:r>
              <a:rPr lang="en-US" dirty="0"/>
              <a:t>CUT&amp;TAG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3ADEC0-A423-7CC6-355F-610A2863DFD4}"/>
              </a:ext>
            </a:extLst>
          </p:cNvPr>
          <p:cNvSpPr txBox="1"/>
          <p:nvPr/>
        </p:nvSpPr>
        <p:spPr>
          <a:xfrm>
            <a:off x="1621580" y="2101912"/>
            <a:ext cx="2314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Spatial transcriptomics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6CF3E8D-FCCB-6AAC-3BD3-80E8AD64A3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6551" b="97995" l="64049" r="96169">
                        <a14:foregroundMark x1="65837" y1="90374" x2="65837" y2="90374"/>
                        <a14:foregroundMark x1="66667" y1="95187" x2="66667" y2="95187"/>
                        <a14:foregroundMark x1="82759" y1="94385" x2="82759" y2="94385"/>
                        <a14:foregroundMark x1="84674" y1="98128" x2="84674" y2="98128"/>
                        <a14:foregroundMark x1="74010" y1="94519" x2="74010" y2="94519"/>
                        <a14:foregroundMark x1="75734" y1="94519" x2="75734" y2="94519"/>
                        <a14:foregroundMark x1="64049" y1="94786" x2="64049" y2="94786"/>
                      </a14:backgroundRemoval>
                    </a14:imgEffect>
                  </a14:imgLayer>
                </a14:imgProps>
              </a:ext>
            </a:extLst>
          </a:blip>
          <a:srcRect l="63455" t="51992" r="121"/>
          <a:stretch/>
        </p:blipFill>
        <p:spPr>
          <a:xfrm>
            <a:off x="43960" y="4519019"/>
            <a:ext cx="2874306" cy="180956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9BDF8F3-3DF8-EE6D-4435-DB7E6C54D8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03" b="98232" l="3728" r="95775">
                        <a14:foregroundMark x1="49544" y1="41026" x2="49544" y2="41026"/>
                        <a14:foregroundMark x1="46065" y1="20248" x2="46065" y2="20248"/>
                        <a14:foregroundMark x1="67523" y1="37843" x2="67523" y2="37843"/>
                        <a14:foregroundMark x1="85915" y1="50575" x2="85915" y2="50575"/>
                        <a14:foregroundMark x1="75062" y1="76304" x2="75062" y2="76304"/>
                        <a14:foregroundMark x1="65369" y1="76304" x2="65369" y2="76304"/>
                        <a14:foregroundMark x1="92046" y1="88683" x2="92046" y2="88683"/>
                        <a14:foregroundMark x1="83264" y1="88683" x2="83264" y2="88683"/>
                        <a14:foregroundMark x1="90638" y1="98408" x2="90638" y2="98408"/>
                        <a14:foregroundMark x1="95775" y1="89655" x2="95775" y2="89655"/>
                        <a14:foregroundMark x1="50621" y1="39523" x2="50621" y2="39523"/>
                        <a14:foregroundMark x1="50621" y1="39523" x2="50621" y2="39523"/>
                        <a14:foregroundMark x1="32726" y1="39523" x2="32726" y2="39523"/>
                        <a14:foregroundMark x1="44656" y1="47480" x2="44656" y2="47480"/>
                        <a14:foregroundMark x1="58575" y1="42263" x2="58575" y2="42263"/>
                        <a14:foregroundMark x1="50621" y1="27144" x2="50621" y2="27144"/>
                        <a14:foregroundMark x1="53770" y1="28294" x2="53770" y2="28294"/>
                        <a14:foregroundMark x1="46893" y1="28028" x2="46893" y2="28028"/>
                        <a14:foregroundMark x1="55178" y1="39257" x2="55178" y2="39257"/>
                        <a14:foregroundMark x1="55758" y1="44739" x2="55758" y2="44739"/>
                        <a14:foregroundMark x1="50290" y1="41026" x2="50290" y2="41026"/>
                        <a14:foregroundMark x1="51781" y1="42263" x2="51781" y2="42263"/>
                        <a14:foregroundMark x1="35874" y1="40141" x2="35874" y2="40141"/>
                        <a14:foregroundMark x1="21375" y1="75685" x2="21375" y2="75685"/>
                        <a14:foregroundMark x1="3728" y1="59240" x2="3728" y2="5924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03120" y="1195865"/>
            <a:ext cx="1892956" cy="1771990"/>
          </a:xfrm>
          <a:prstGeom prst="rect">
            <a:avLst/>
          </a:prstGeom>
        </p:spPr>
      </p:pic>
      <p:pic>
        <p:nvPicPr>
          <p:cNvPr id="31" name="Picture 30" descr="Chart, bar chart&#10;&#10;Description automatically generated">
            <a:extLst>
              <a:ext uri="{FF2B5EF4-FFF2-40B4-BE49-F238E27FC236}">
                <a16:creationId xmlns:a16="http://schemas.microsoft.com/office/drawing/2014/main" id="{836AD08A-B2E1-ED2B-7C9A-E1B4C759F9E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1749" t="5584" r="20846" b="12153"/>
          <a:stretch/>
        </p:blipFill>
        <p:spPr>
          <a:xfrm>
            <a:off x="101298" y="1342672"/>
            <a:ext cx="1489149" cy="18878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0DD376-6BA8-3F9D-9225-E5357C983334}"/>
              </a:ext>
            </a:extLst>
          </p:cNvPr>
          <p:cNvSpPr txBox="1"/>
          <p:nvPr/>
        </p:nvSpPr>
        <p:spPr>
          <a:xfrm>
            <a:off x="1050141" y="3759647"/>
            <a:ext cx="28859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8B1874"/>
                </a:solidFill>
              </a:rPr>
              <a:t>GENOME ORGANIZATION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37D027-C1B0-100E-8C59-20E1B1B08410}"/>
              </a:ext>
            </a:extLst>
          </p:cNvPr>
          <p:cNvSpPr txBox="1"/>
          <p:nvPr/>
        </p:nvSpPr>
        <p:spPr>
          <a:xfrm>
            <a:off x="964733" y="4154722"/>
            <a:ext cx="2971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3D genome organization - </a:t>
            </a:r>
            <a:r>
              <a:rPr lang="en-US" dirty="0" err="1"/>
              <a:t>HiC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77B38E-E36D-4345-C2D5-F2EFB05F9AE4}"/>
              </a:ext>
            </a:extLst>
          </p:cNvPr>
          <p:cNvSpPr/>
          <p:nvPr/>
        </p:nvSpPr>
        <p:spPr>
          <a:xfrm>
            <a:off x="4126923" y="3741251"/>
            <a:ext cx="3938155" cy="25873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F23AB7-BD2D-6140-1CE3-C49594A8E3F4}"/>
              </a:ext>
            </a:extLst>
          </p:cNvPr>
          <p:cNvSpPr txBox="1"/>
          <p:nvPr/>
        </p:nvSpPr>
        <p:spPr>
          <a:xfrm>
            <a:off x="5895830" y="3759647"/>
            <a:ext cx="2169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D4E00"/>
                </a:solidFill>
              </a:rPr>
              <a:t>ENHANCER ACTIVITY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EAD358-F19E-D744-4676-EB3247A2E87F}"/>
              </a:ext>
            </a:extLst>
          </p:cNvPr>
          <p:cNvSpPr txBox="1"/>
          <p:nvPr/>
        </p:nvSpPr>
        <p:spPr>
          <a:xfrm>
            <a:off x="6405404" y="4132215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eRNA</a:t>
            </a:r>
            <a:r>
              <a:rPr lang="en-US" dirty="0"/>
              <a:t> mapping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2966752-878E-B093-7D28-D91720BAB203}"/>
              </a:ext>
            </a:extLst>
          </p:cNvPr>
          <p:cNvSpPr/>
          <p:nvPr/>
        </p:nvSpPr>
        <p:spPr>
          <a:xfrm>
            <a:off x="8253845" y="3741251"/>
            <a:ext cx="3938155" cy="25873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F0F24F-817A-E09E-F64C-EAC243F705C7}"/>
              </a:ext>
            </a:extLst>
          </p:cNvPr>
          <p:cNvSpPr txBox="1"/>
          <p:nvPr/>
        </p:nvSpPr>
        <p:spPr>
          <a:xfrm>
            <a:off x="9304415" y="3759647"/>
            <a:ext cx="2887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79640"/>
                </a:solidFill>
              </a:rPr>
              <a:t>SINGLE-CELL TECHNOLOGIES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55873F-EA03-177E-14C8-1030D686D62F}"/>
              </a:ext>
            </a:extLst>
          </p:cNvPr>
          <p:cNvSpPr txBox="1"/>
          <p:nvPr/>
        </p:nvSpPr>
        <p:spPr>
          <a:xfrm>
            <a:off x="8662808" y="4132215"/>
            <a:ext cx="3529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Transcriptomics / </a:t>
            </a:r>
            <a:r>
              <a:rPr lang="en-US" dirty="0" err="1"/>
              <a:t>Multiome</a:t>
            </a:r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F460F0E0-4687-8484-528E-737B5ED858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287501" y="1583527"/>
            <a:ext cx="2314544" cy="132040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556D7DB1-161B-D848-16FB-57AD2B87F1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178798" y="4691345"/>
            <a:ext cx="1929058" cy="1596949"/>
          </a:xfrm>
          <a:prstGeom prst="rect">
            <a:avLst/>
          </a:prstGeom>
        </p:spPr>
      </p:pic>
      <p:pic>
        <p:nvPicPr>
          <p:cNvPr id="35" name="Picture 2" descr="MU DNA Core Facility">
            <a:extLst>
              <a:ext uri="{FF2B5EF4-FFF2-40B4-BE49-F238E27FC236}">
                <a16:creationId xmlns:a16="http://schemas.microsoft.com/office/drawing/2014/main" id="{E00120D9-FB24-330D-1292-B9F75F2248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/>
          <a:srcRect t="2833" r="45640" b="48768"/>
          <a:stretch>
            <a:fillRect/>
          </a:stretch>
        </p:blipFill>
        <p:spPr bwMode="auto">
          <a:xfrm>
            <a:off x="8284195" y="4795032"/>
            <a:ext cx="3410157" cy="1443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99D98BB-1A39-03F0-37E4-0847FB8ED625}"/>
              </a:ext>
            </a:extLst>
          </p:cNvPr>
          <p:cNvSpPr/>
          <p:nvPr/>
        </p:nvSpPr>
        <p:spPr>
          <a:xfrm>
            <a:off x="-50508" y="826533"/>
            <a:ext cx="12431694" cy="2725964"/>
          </a:xfrm>
          <a:prstGeom prst="rect">
            <a:avLst/>
          </a:prstGeom>
          <a:solidFill>
            <a:srgbClr val="FFFFFF">
              <a:alpha val="7529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0B0C7C-DBD1-B794-8D5A-63C1000864E1}"/>
              </a:ext>
            </a:extLst>
          </p:cNvPr>
          <p:cNvSpPr/>
          <p:nvPr/>
        </p:nvSpPr>
        <p:spPr>
          <a:xfrm>
            <a:off x="-50509" y="3589744"/>
            <a:ext cx="4040540" cy="3000241"/>
          </a:xfrm>
          <a:prstGeom prst="rect">
            <a:avLst/>
          </a:prstGeom>
          <a:solidFill>
            <a:srgbClr val="FFFFFF">
              <a:alpha val="7529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5DAB9F-FFC4-C20C-A57F-164AB9FD6127}"/>
              </a:ext>
            </a:extLst>
          </p:cNvPr>
          <p:cNvSpPr/>
          <p:nvPr/>
        </p:nvSpPr>
        <p:spPr>
          <a:xfrm>
            <a:off x="8246099" y="3534798"/>
            <a:ext cx="4040540" cy="3000241"/>
          </a:xfrm>
          <a:prstGeom prst="rect">
            <a:avLst/>
          </a:prstGeom>
          <a:solidFill>
            <a:srgbClr val="FFFFFF">
              <a:alpha val="7529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933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64E21E-E248-99AA-1DD9-7CD9FBD9A5E5}"/>
              </a:ext>
            </a:extLst>
          </p:cNvPr>
          <p:cNvSpPr txBox="1"/>
          <p:nvPr/>
        </p:nvSpPr>
        <p:spPr>
          <a:xfrm>
            <a:off x="1281088" y="0"/>
            <a:ext cx="109109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r"/>
            <a:r>
              <a:rPr lang="en-US" sz="2800" dirty="0"/>
              <a:t>Mapping active transcription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7D9E27-C352-E674-7892-2F7BB06785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44" t="75954" r="48542" b="322"/>
          <a:stretch>
            <a:fillRect/>
          </a:stretch>
        </p:blipFill>
        <p:spPr>
          <a:xfrm>
            <a:off x="1741908" y="4390065"/>
            <a:ext cx="2350860" cy="17809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0F9A550-462C-6487-CA38-D05C45E7C4E7}"/>
              </a:ext>
            </a:extLst>
          </p:cNvPr>
          <p:cNvSpPr txBox="1"/>
          <p:nvPr/>
        </p:nvSpPr>
        <p:spPr>
          <a:xfrm>
            <a:off x="0" y="6513474"/>
            <a:ext cx="3080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Zeitlinger, et al. 2007. Nat Gen.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CBBF7D-D0D4-2A3A-7649-029BA1C0B8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87" t="51377" r="48970" b="26418"/>
          <a:stretch>
            <a:fillRect/>
          </a:stretch>
        </p:blipFill>
        <p:spPr>
          <a:xfrm>
            <a:off x="1749381" y="523220"/>
            <a:ext cx="2322367" cy="16669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212C53-CED8-9627-685E-0F910082126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59" r="49113" b="75669"/>
          <a:stretch>
            <a:fillRect/>
          </a:stretch>
        </p:blipFill>
        <p:spPr>
          <a:xfrm>
            <a:off x="1735134" y="2221140"/>
            <a:ext cx="2336614" cy="18264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728C1D-DDB6-368A-CFDF-DDAD43B71189}"/>
              </a:ext>
            </a:extLst>
          </p:cNvPr>
          <p:cNvSpPr txBox="1"/>
          <p:nvPr/>
        </p:nvSpPr>
        <p:spPr>
          <a:xfrm>
            <a:off x="1093073" y="834073"/>
            <a:ext cx="461665" cy="670376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dirty="0"/>
              <a:t>Active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7F975C-66D2-3FBC-5CEE-0D5B8A4E3F3F}"/>
              </a:ext>
            </a:extLst>
          </p:cNvPr>
          <p:cNvSpPr txBox="1"/>
          <p:nvPr/>
        </p:nvSpPr>
        <p:spPr>
          <a:xfrm>
            <a:off x="1093072" y="4542014"/>
            <a:ext cx="461665" cy="765466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dirty="0"/>
              <a:t>Paused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A89A4E-2B38-259F-7354-7A15233FBB08}"/>
              </a:ext>
            </a:extLst>
          </p:cNvPr>
          <p:cNvSpPr txBox="1"/>
          <p:nvPr/>
        </p:nvSpPr>
        <p:spPr>
          <a:xfrm>
            <a:off x="1093071" y="2578776"/>
            <a:ext cx="461665" cy="1111202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dirty="0"/>
              <a:t>Non-active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2AE7B68-4DE2-B02F-6DCF-2279F7EFBC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2086" y="2074252"/>
            <a:ext cx="5819666" cy="25106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95107D5-84FF-1EC0-81A0-D8DB30682C07}"/>
              </a:ext>
            </a:extLst>
          </p:cNvPr>
          <p:cNvSpPr txBox="1"/>
          <p:nvPr/>
        </p:nvSpPr>
        <p:spPr>
          <a:xfrm>
            <a:off x="7614464" y="6488668"/>
            <a:ext cx="4577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review: Adelman, Lis. 2012. Nat Rev Genet.</a:t>
            </a:r>
          </a:p>
        </p:txBody>
      </p:sp>
    </p:spTree>
    <p:extLst>
      <p:ext uri="{BB962C8B-B14F-4D97-AF65-F5344CB8AC3E}">
        <p14:creationId xmlns:p14="http://schemas.microsoft.com/office/powerpoint/2010/main" val="1825611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A6127-6164-7C18-D254-B8E51D855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250D46-6F8F-332B-01F6-BCCF4C156B46}"/>
              </a:ext>
            </a:extLst>
          </p:cNvPr>
          <p:cNvSpPr txBox="1"/>
          <p:nvPr/>
        </p:nvSpPr>
        <p:spPr>
          <a:xfrm>
            <a:off x="1281088" y="0"/>
            <a:ext cx="1091091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r"/>
            <a:r>
              <a:rPr lang="en-US" sz="2800" dirty="0"/>
              <a:t>Mapping active transcription</a:t>
            </a:r>
          </a:p>
          <a:p>
            <a:pPr algn="r"/>
            <a:r>
              <a:rPr lang="en-US" sz="2400" dirty="0"/>
              <a:t>Nascent RNA sequencing (run-on assays)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838ACF-BC09-EB3B-98C3-CBC93D3B36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44" t="75954" r="48542" b="322"/>
          <a:stretch>
            <a:fillRect/>
          </a:stretch>
        </p:blipFill>
        <p:spPr>
          <a:xfrm>
            <a:off x="1904580" y="4363129"/>
            <a:ext cx="2350860" cy="17809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06ABCA-0E82-A62B-AB79-A2FAC8A51A3F}"/>
              </a:ext>
            </a:extLst>
          </p:cNvPr>
          <p:cNvSpPr txBox="1"/>
          <p:nvPr/>
        </p:nvSpPr>
        <p:spPr>
          <a:xfrm>
            <a:off x="0" y="6513474"/>
            <a:ext cx="3080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Zeitlinger, et al. 2007. Nat Gen.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0A5755-A881-9FB7-B695-FB671C9E8A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487" t="51377" r="48970" b="26418"/>
          <a:stretch>
            <a:fillRect/>
          </a:stretch>
        </p:blipFill>
        <p:spPr>
          <a:xfrm>
            <a:off x="1706529" y="860852"/>
            <a:ext cx="2322367" cy="16669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A09368-2841-5E69-F272-5F1CF68594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59" r="49113" b="75669"/>
          <a:stretch>
            <a:fillRect/>
          </a:stretch>
        </p:blipFill>
        <p:spPr>
          <a:xfrm>
            <a:off x="1829727" y="2482951"/>
            <a:ext cx="2336614" cy="18264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CC07BD-F631-E9F9-8AD5-21760EA77177}"/>
              </a:ext>
            </a:extLst>
          </p:cNvPr>
          <p:cNvSpPr txBox="1"/>
          <p:nvPr/>
        </p:nvSpPr>
        <p:spPr>
          <a:xfrm>
            <a:off x="1093071" y="1221916"/>
            <a:ext cx="461665" cy="670376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dirty="0"/>
              <a:t>Active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386587-FBCC-B0E2-8ED1-0F9B1735BD6A}"/>
              </a:ext>
            </a:extLst>
          </p:cNvPr>
          <p:cNvSpPr txBox="1"/>
          <p:nvPr/>
        </p:nvSpPr>
        <p:spPr>
          <a:xfrm>
            <a:off x="1078340" y="4645983"/>
            <a:ext cx="461665" cy="765466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dirty="0"/>
              <a:t>Paused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AB2C80-94BE-3580-9218-7516BD7FDCF0}"/>
              </a:ext>
            </a:extLst>
          </p:cNvPr>
          <p:cNvSpPr txBox="1"/>
          <p:nvPr/>
        </p:nvSpPr>
        <p:spPr>
          <a:xfrm>
            <a:off x="1093071" y="2780419"/>
            <a:ext cx="461665" cy="1111202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n-US" dirty="0"/>
              <a:t>Non-active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B8C85BF-107C-6568-F19A-7A7559340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817" y="954107"/>
            <a:ext cx="3340087" cy="52980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3CD3046-B831-941C-CCB4-526AA89AEB65}"/>
              </a:ext>
            </a:extLst>
          </p:cNvPr>
          <p:cNvSpPr txBox="1"/>
          <p:nvPr/>
        </p:nvSpPr>
        <p:spPr>
          <a:xfrm>
            <a:off x="7614464" y="6488668"/>
            <a:ext cx="4577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review: Adelman, Lis. 2012. Nat Rev Genet.</a:t>
            </a:r>
          </a:p>
        </p:txBody>
      </p:sp>
    </p:spTree>
    <p:extLst>
      <p:ext uri="{BB962C8B-B14F-4D97-AF65-F5344CB8AC3E}">
        <p14:creationId xmlns:p14="http://schemas.microsoft.com/office/powerpoint/2010/main" val="18962855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55125-71E6-02D0-310B-A55461C91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BB23A2-A45F-A261-4E9E-B8E4AD9CDD0D}"/>
              </a:ext>
            </a:extLst>
          </p:cNvPr>
          <p:cNvSpPr txBox="1"/>
          <p:nvPr/>
        </p:nvSpPr>
        <p:spPr>
          <a:xfrm>
            <a:off x="1281088" y="0"/>
            <a:ext cx="1091091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r"/>
            <a:r>
              <a:rPr lang="en-US" sz="2800" dirty="0"/>
              <a:t>Mapping active transcription and unstable RNA</a:t>
            </a:r>
            <a:br>
              <a:rPr lang="en-US" sz="2800" dirty="0"/>
            </a:br>
            <a:r>
              <a:rPr lang="en-US" sz="2400" dirty="0"/>
              <a:t>GRO-seq - global run-on sequencing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CBDAD5-1ECA-D6AC-14B1-9DFAC9FCCA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9140"/>
          <a:stretch>
            <a:fillRect/>
          </a:stretch>
        </p:blipFill>
        <p:spPr>
          <a:xfrm>
            <a:off x="438620" y="2444607"/>
            <a:ext cx="2357131" cy="112891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2CBCCB9-EB5A-9B4C-FC0F-414DC657FE75}"/>
              </a:ext>
            </a:extLst>
          </p:cNvPr>
          <p:cNvSpPr txBox="1"/>
          <p:nvPr/>
        </p:nvSpPr>
        <p:spPr>
          <a:xfrm>
            <a:off x="91537" y="3876296"/>
            <a:ext cx="6159062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200"/>
              </a:spcAft>
              <a:buNone/>
            </a:pPr>
            <a:r>
              <a:rPr lang="en-US" sz="2000" b="1" i="0" dirty="0">
                <a:solidFill>
                  <a:srgbClr val="444648"/>
                </a:solidFill>
                <a:effectLst/>
                <a:latin typeface="Inter"/>
              </a:rPr>
              <a:t>Pros: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 spc="-13" dirty="0">
                <a:solidFill>
                  <a:srgbClr val="444648"/>
                </a:solidFill>
                <a:effectLst/>
                <a:latin typeface="Inter"/>
              </a:rPr>
              <a:t>Maps position of transcriptionally engaged RNA polymerases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 spc="-13" dirty="0">
                <a:solidFill>
                  <a:srgbClr val="444648"/>
                </a:solidFill>
                <a:effectLst/>
                <a:latin typeface="Inter"/>
              </a:rPr>
              <a:t>Determines relative activity of transcription sites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 spc="-13" dirty="0">
                <a:solidFill>
                  <a:srgbClr val="444648"/>
                </a:solidFill>
                <a:effectLst/>
                <a:latin typeface="Inter"/>
              </a:rPr>
              <a:t>Detects transcription anywhere on the genome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 spc="-13" dirty="0">
                <a:solidFill>
                  <a:srgbClr val="444648"/>
                </a:solidFill>
                <a:effectLst/>
                <a:latin typeface="Inter"/>
              </a:rPr>
              <a:t>No prior knowledge of transcription sites is needed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7B245A-5BF7-BB11-C41B-1DA0E32DDC44}"/>
              </a:ext>
            </a:extLst>
          </p:cNvPr>
          <p:cNvSpPr txBox="1"/>
          <p:nvPr/>
        </p:nvSpPr>
        <p:spPr>
          <a:xfrm>
            <a:off x="6411310" y="3861541"/>
            <a:ext cx="5843752" cy="1738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200"/>
              </a:spcAft>
              <a:buNone/>
            </a:pPr>
            <a:r>
              <a:rPr lang="en-US" sz="2000" b="1" i="0" dirty="0">
                <a:solidFill>
                  <a:srgbClr val="444648"/>
                </a:solidFill>
                <a:effectLst/>
                <a:latin typeface="Inter"/>
              </a:rPr>
              <a:t>Cons: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 spc="-13" dirty="0">
                <a:solidFill>
                  <a:srgbClr val="444648"/>
                </a:solidFill>
                <a:effectLst/>
                <a:latin typeface="Inter"/>
              </a:rPr>
              <a:t>Limited to cell cultures and other artificial systems, due to the requirement for incubation in the presence of labeled nucleotides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b="0" i="0" spc="-13" dirty="0">
                <a:solidFill>
                  <a:srgbClr val="444648"/>
                </a:solidFill>
                <a:effectLst/>
                <a:latin typeface="Inter"/>
              </a:rPr>
              <a:t>Resolution is only 30–100 </a:t>
            </a:r>
            <a:r>
              <a:rPr lang="en-US" sz="1800" b="0" i="0" spc="-13" dirty="0" err="1">
                <a:solidFill>
                  <a:srgbClr val="444648"/>
                </a:solidFill>
                <a:effectLst/>
                <a:latin typeface="Inter"/>
              </a:rPr>
              <a:t>nt</a:t>
            </a:r>
            <a:endParaRPr lang="en-US" sz="1800" b="0" i="0" spc="-13" dirty="0">
              <a:solidFill>
                <a:srgbClr val="444648"/>
              </a:solidFill>
              <a:effectLst/>
              <a:latin typeface="Inter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C0ADB3B-F642-6FA4-474F-00BA33A541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00" r="58025"/>
          <a:stretch>
            <a:fillRect/>
          </a:stretch>
        </p:blipFill>
        <p:spPr>
          <a:xfrm>
            <a:off x="2511972" y="2444607"/>
            <a:ext cx="2596055" cy="112891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1BC4764-399B-785D-43AD-FE61183D3D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975" r="24911"/>
          <a:stretch>
            <a:fillRect/>
          </a:stretch>
        </p:blipFill>
        <p:spPr>
          <a:xfrm>
            <a:off x="5108027" y="2444607"/>
            <a:ext cx="3741683" cy="112891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B5978A6-9988-8C2F-BF79-B5AE29B915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088"/>
          <a:stretch>
            <a:fillRect/>
          </a:stretch>
        </p:blipFill>
        <p:spPr>
          <a:xfrm>
            <a:off x="8849710" y="2444607"/>
            <a:ext cx="2814891" cy="112891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535DFDFD-D61B-B9B2-64AE-D19FF387D9EA}"/>
              </a:ext>
            </a:extLst>
          </p:cNvPr>
          <p:cNvSpPr txBox="1"/>
          <p:nvPr/>
        </p:nvSpPr>
        <p:spPr>
          <a:xfrm>
            <a:off x="8849710" y="6211669"/>
            <a:ext cx="33384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Illumina</a:t>
            </a:r>
          </a:p>
          <a:p>
            <a:r>
              <a:rPr lang="en-US" dirty="0"/>
              <a:t>Core, Waterfall, Lis. 2008. Science</a:t>
            </a:r>
          </a:p>
        </p:txBody>
      </p:sp>
    </p:spTree>
    <p:extLst>
      <p:ext uri="{BB962C8B-B14F-4D97-AF65-F5344CB8AC3E}">
        <p14:creationId xmlns:p14="http://schemas.microsoft.com/office/powerpoint/2010/main" val="871485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BC749-77A5-2A51-B724-7E182C0DB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5F6563-A8B2-A4C4-9D9D-5F0C9629C660}"/>
              </a:ext>
            </a:extLst>
          </p:cNvPr>
          <p:cNvSpPr txBox="1"/>
          <p:nvPr/>
        </p:nvSpPr>
        <p:spPr>
          <a:xfrm>
            <a:off x="1281089" y="0"/>
            <a:ext cx="1091091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r"/>
            <a:r>
              <a:rPr lang="en-US" sz="2800" dirty="0"/>
              <a:t>Mapping active transcription</a:t>
            </a:r>
            <a:br>
              <a:rPr lang="en-US" sz="2800" dirty="0"/>
            </a:br>
            <a:r>
              <a:rPr lang="en-US" sz="2400" dirty="0"/>
              <a:t>PRO-Seq - Precision nuclear run-on sequencing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710956-21E6-1739-5D9B-52CE1BF12A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85711"/>
          <a:stretch>
            <a:fillRect/>
          </a:stretch>
        </p:blipFill>
        <p:spPr>
          <a:xfrm>
            <a:off x="489060" y="1784350"/>
            <a:ext cx="1602497" cy="9967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7B09FA-E4B5-F89B-F17F-7ADF602536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0138" y="2806103"/>
            <a:ext cx="2654300" cy="3657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FD8825-1738-1595-8682-176B07C786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1693" y="3174403"/>
            <a:ext cx="6096000" cy="32893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E75E37D-B891-E3CE-490A-713DD75620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290" r="70245"/>
          <a:stretch>
            <a:fillRect/>
          </a:stretch>
        </p:blipFill>
        <p:spPr>
          <a:xfrm>
            <a:off x="2091558" y="1784350"/>
            <a:ext cx="1734207" cy="9967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2BD445A-CCFB-07E9-19F8-B6B4F810F4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755" r="11948"/>
          <a:stretch>
            <a:fillRect/>
          </a:stretch>
        </p:blipFill>
        <p:spPr>
          <a:xfrm>
            <a:off x="3825766" y="1784350"/>
            <a:ext cx="6537434" cy="99678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121798D-53C1-E6FF-66F7-45E8588129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053"/>
          <a:stretch>
            <a:fillRect/>
          </a:stretch>
        </p:blipFill>
        <p:spPr>
          <a:xfrm>
            <a:off x="10363200" y="1784350"/>
            <a:ext cx="1339739" cy="9967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874E857-A9DA-248E-4A29-2D298E2228F5}"/>
              </a:ext>
            </a:extLst>
          </p:cNvPr>
          <p:cNvSpPr txBox="1"/>
          <p:nvPr/>
        </p:nvSpPr>
        <p:spPr>
          <a:xfrm>
            <a:off x="9370009" y="5933637"/>
            <a:ext cx="28219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Illumina</a:t>
            </a:r>
            <a:br>
              <a:rPr lang="en-US" dirty="0"/>
            </a:br>
            <a:r>
              <a:rPr lang="en-US" dirty="0"/>
              <a:t>Kawak, et al. 2013. Science</a:t>
            </a:r>
            <a:br>
              <a:rPr lang="en-US" dirty="0"/>
            </a:br>
            <a:r>
              <a:rPr lang="en-US" dirty="0"/>
              <a:t>Mahat, et al. 2016. Nat Prot</a:t>
            </a:r>
          </a:p>
        </p:txBody>
      </p:sp>
    </p:spTree>
    <p:extLst>
      <p:ext uri="{BB962C8B-B14F-4D97-AF65-F5344CB8AC3E}">
        <p14:creationId xmlns:p14="http://schemas.microsoft.com/office/powerpoint/2010/main" val="3884618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11BB8-166F-B452-5283-1A48F4B6E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00B5D8-23E7-644F-4DBA-EFA9CB4278E1}"/>
              </a:ext>
            </a:extLst>
          </p:cNvPr>
          <p:cNvSpPr txBox="1"/>
          <p:nvPr/>
        </p:nvSpPr>
        <p:spPr>
          <a:xfrm>
            <a:off x="1281089" y="0"/>
            <a:ext cx="1091091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r"/>
            <a:r>
              <a:rPr lang="en-US" sz="2800" dirty="0"/>
              <a:t>Mapping active transcription</a:t>
            </a:r>
            <a:br>
              <a:rPr lang="en-US" sz="2800" dirty="0"/>
            </a:br>
            <a:r>
              <a:rPr lang="en-US" sz="2400" dirty="0"/>
              <a:t>PRO-Seq - Precision nuclear run-on sequencing</a:t>
            </a:r>
            <a:endParaRPr lang="en-US" sz="2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1C0D11-8D26-1BEC-F569-F4A14EF01A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060" y="2432211"/>
            <a:ext cx="11213880" cy="9967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18EC37-7AFF-0B83-84FA-BE06A1AF6BC0}"/>
              </a:ext>
            </a:extLst>
          </p:cNvPr>
          <p:cNvSpPr txBox="1"/>
          <p:nvPr/>
        </p:nvSpPr>
        <p:spPr>
          <a:xfrm>
            <a:off x="262758" y="4229995"/>
            <a:ext cx="76022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Single nucleotide resolution of engaged and active RNAP across the genome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Analysis of polymerase pausing and productive elongation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Sensitive measurement of differential gene expression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Identification of enhancers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AF950E-A875-DF7A-1BBB-C6F8DAF4B297}"/>
              </a:ext>
            </a:extLst>
          </p:cNvPr>
          <p:cNvSpPr txBox="1"/>
          <p:nvPr/>
        </p:nvSpPr>
        <p:spPr>
          <a:xfrm>
            <a:off x="9370009" y="5933637"/>
            <a:ext cx="282199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Illumina</a:t>
            </a:r>
            <a:br>
              <a:rPr lang="en-US" dirty="0"/>
            </a:br>
            <a:r>
              <a:rPr lang="en-US" dirty="0"/>
              <a:t>Kawak, et al. 2013. Science</a:t>
            </a:r>
            <a:br>
              <a:rPr lang="en-US" dirty="0"/>
            </a:br>
            <a:r>
              <a:rPr lang="en-US" dirty="0"/>
              <a:t>Mahat, et al. 2016. Nat Prot</a:t>
            </a:r>
          </a:p>
        </p:txBody>
      </p:sp>
    </p:spTree>
    <p:extLst>
      <p:ext uri="{BB962C8B-B14F-4D97-AF65-F5344CB8AC3E}">
        <p14:creationId xmlns:p14="http://schemas.microsoft.com/office/powerpoint/2010/main" val="1125706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F7054-6816-823F-CAA1-9643B005A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41324E-DEE6-31DD-4D9A-96B32458406A}"/>
              </a:ext>
            </a:extLst>
          </p:cNvPr>
          <p:cNvSpPr txBox="1"/>
          <p:nvPr/>
        </p:nvSpPr>
        <p:spPr>
          <a:xfrm>
            <a:off x="1281089" y="0"/>
            <a:ext cx="1091091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r"/>
            <a:r>
              <a:rPr lang="en-US" sz="2800" dirty="0"/>
              <a:t>Mapping active transcription</a:t>
            </a:r>
            <a:br>
              <a:rPr lang="en-US" sz="2800" dirty="0"/>
            </a:br>
            <a:r>
              <a:rPr lang="en-US" sz="2400" dirty="0"/>
              <a:t>Promoters and enhancers share similar transcription initiation mechanisms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D32FC8-3A42-0503-F0D4-295A089BA2E1}"/>
              </a:ext>
            </a:extLst>
          </p:cNvPr>
          <p:cNvSpPr txBox="1"/>
          <p:nvPr/>
        </p:nvSpPr>
        <p:spPr>
          <a:xfrm>
            <a:off x="9591545" y="6488668"/>
            <a:ext cx="2600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Core, et al. 2014. Nat Gen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3E1AFA-B27F-368C-3A11-3AC0EF2A2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393" y="1227893"/>
            <a:ext cx="7772400" cy="2279124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046B3455-13DF-A818-8696-B7690D9460CC}"/>
              </a:ext>
            </a:extLst>
          </p:cNvPr>
          <p:cNvGrpSpPr/>
          <p:nvPr/>
        </p:nvGrpSpPr>
        <p:grpSpPr>
          <a:xfrm>
            <a:off x="2304393" y="3842358"/>
            <a:ext cx="7772400" cy="1967696"/>
            <a:chOff x="2304393" y="3842358"/>
            <a:chExt cx="7772400" cy="196769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C86096C-ED91-18E8-9509-A66A030AB0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04393" y="3842358"/>
              <a:ext cx="7772400" cy="1967696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C6AB38F-FD10-0D39-AD15-0D0B684BB0AD}"/>
                </a:ext>
              </a:extLst>
            </p:cNvPr>
            <p:cNvSpPr/>
            <p:nvPr/>
          </p:nvSpPr>
          <p:spPr>
            <a:xfrm>
              <a:off x="7893269" y="5580993"/>
              <a:ext cx="1492469" cy="22906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6997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790DBC0-1190-952F-E4A1-2263405EE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5A06E6-8E60-A9CF-5944-FDDA46CA2A1A}"/>
              </a:ext>
            </a:extLst>
          </p:cNvPr>
          <p:cNvSpPr txBox="1"/>
          <p:nvPr/>
        </p:nvSpPr>
        <p:spPr>
          <a:xfrm>
            <a:off x="1281089" y="0"/>
            <a:ext cx="1091091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r"/>
            <a:r>
              <a:rPr lang="en-US" sz="2800" dirty="0"/>
              <a:t>Mapping active transcription</a:t>
            </a:r>
            <a:br>
              <a:rPr lang="en-US" sz="2800" dirty="0"/>
            </a:br>
            <a:r>
              <a:rPr lang="en-US" sz="2400" dirty="0"/>
              <a:t>Promoters and enhancers share similar transcription initiation mechanisms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44E592-2831-BA42-9E20-7B08B96A01FD}"/>
              </a:ext>
            </a:extLst>
          </p:cNvPr>
          <p:cNvSpPr txBox="1"/>
          <p:nvPr/>
        </p:nvSpPr>
        <p:spPr>
          <a:xfrm>
            <a:off x="9016131" y="6488668"/>
            <a:ext cx="3175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Kaikkonen , et al. 2013. Mol Cell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55B232-9009-50EC-97E0-C661131E9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53" y="1210153"/>
            <a:ext cx="3763005" cy="26719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ED9FA53-7B14-73DC-37B8-67BD1AB0A3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386" y="4018556"/>
            <a:ext cx="3718472" cy="27832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EAF1D0-E64B-920A-FF25-7DEC71DD8F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9459" y="990600"/>
            <a:ext cx="3937000" cy="2971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42C2DF6-09E2-93F3-DF24-0B4FF34976C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7186" t="77075"/>
          <a:stretch>
            <a:fillRect/>
          </a:stretch>
        </p:blipFill>
        <p:spPr>
          <a:xfrm>
            <a:off x="5785643" y="5824866"/>
            <a:ext cx="3937001" cy="66380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BA66E70-6C9E-4188-3732-38BFCAA206F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9127" t="4044" b="42525"/>
          <a:stretch>
            <a:fillRect/>
          </a:stretch>
        </p:blipFill>
        <p:spPr>
          <a:xfrm>
            <a:off x="5867983" y="4277710"/>
            <a:ext cx="3854662" cy="154715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BAEA518-1FCA-9979-041A-E4E893CBD1D3}"/>
              </a:ext>
            </a:extLst>
          </p:cNvPr>
          <p:cNvSpPr/>
          <p:nvPr/>
        </p:nvSpPr>
        <p:spPr>
          <a:xfrm>
            <a:off x="6096000" y="5728138"/>
            <a:ext cx="956441" cy="8621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428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722E7-5FC7-7647-771E-F5D4450B6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0727B6-1FD2-FAE6-3911-B93D40356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0272" y="4852145"/>
            <a:ext cx="2053728" cy="16946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7A304F-7834-DA28-043B-54D596E79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1426" y="710561"/>
            <a:ext cx="3478357" cy="11097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4D42E0-B30D-FF91-BF61-CF22599BEA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079" y="2282986"/>
            <a:ext cx="5118538" cy="528853"/>
          </a:xfrm>
          <a:prstGeom prst="rect">
            <a:avLst/>
          </a:prstGeom>
        </p:spPr>
      </p:pic>
      <p:sp>
        <p:nvSpPr>
          <p:cNvPr id="16" name="Rectangle 7">
            <a:extLst>
              <a:ext uri="{FF2B5EF4-FFF2-40B4-BE49-F238E27FC236}">
                <a16:creationId xmlns:a16="http://schemas.microsoft.com/office/drawing/2014/main" id="{EB96DD09-133E-3054-C52F-F1D617754F9F}"/>
              </a:ext>
            </a:extLst>
          </p:cNvPr>
          <p:cNvSpPr>
            <a:spLocks/>
          </p:cNvSpPr>
          <p:nvPr/>
        </p:nvSpPr>
        <p:spPr bwMode="auto">
          <a:xfrm>
            <a:off x="8891682" y="6546751"/>
            <a:ext cx="311623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r" hangingPunct="0"/>
            <a:r>
              <a:rPr lang="en-US" dirty="0">
                <a:latin typeface="Arial" charset="0"/>
                <a:cs typeface="Arial" charset="0"/>
                <a:sym typeface="Arial" charset="0"/>
              </a:rPr>
              <a:t>Enhancer-promoter interaction</a:t>
            </a:r>
            <a:endParaRPr lang="en-US" dirty="0"/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FC3B3D05-2C38-11D4-5576-C66080CFA4A8}"/>
              </a:ext>
            </a:extLst>
          </p:cNvPr>
          <p:cNvSpPr>
            <a:spLocks/>
          </p:cNvSpPr>
          <p:nvPr/>
        </p:nvSpPr>
        <p:spPr bwMode="auto">
          <a:xfrm>
            <a:off x="7581298" y="1823499"/>
            <a:ext cx="438588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r" hangingPunct="0"/>
            <a:r>
              <a:rPr lang="en-US" dirty="0">
                <a:latin typeface="Arial" charset="0"/>
                <a:cs typeface="Arial" charset="0"/>
                <a:sym typeface="Arial" charset="0"/>
              </a:rPr>
              <a:t>DNA accessibility and active histone marks</a:t>
            </a:r>
            <a:endParaRPr lang="en-US" dirty="0"/>
          </a:p>
        </p:txBody>
      </p:sp>
      <p:sp>
        <p:nvSpPr>
          <p:cNvPr id="18" name="Rectangle 7">
            <a:extLst>
              <a:ext uri="{FF2B5EF4-FFF2-40B4-BE49-F238E27FC236}">
                <a16:creationId xmlns:a16="http://schemas.microsoft.com/office/drawing/2014/main" id="{9C517668-9B76-449A-2FB3-FA6A5BB41A13}"/>
              </a:ext>
            </a:extLst>
          </p:cNvPr>
          <p:cNvSpPr>
            <a:spLocks/>
          </p:cNvSpPr>
          <p:nvPr/>
        </p:nvSpPr>
        <p:spPr bwMode="auto">
          <a:xfrm>
            <a:off x="7733288" y="2811839"/>
            <a:ext cx="427463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r" hangingPunct="0"/>
            <a:r>
              <a:rPr lang="en-US" dirty="0">
                <a:latin typeface="Arial" charset="0"/>
                <a:cs typeface="Arial" charset="0"/>
                <a:sym typeface="Arial" charset="0"/>
              </a:rPr>
              <a:t>Tissue specific transcription factor binding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62C74EB-2321-58C2-E4EF-028A34214D9B}"/>
              </a:ext>
            </a:extLst>
          </p:cNvPr>
          <p:cNvSpPr txBox="1"/>
          <p:nvPr/>
        </p:nvSpPr>
        <p:spPr>
          <a:xfrm>
            <a:off x="4744064" y="0"/>
            <a:ext cx="7447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Cis-regulatory features and how to identify them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1F085C4-171E-262A-C811-A51950EB6448}"/>
              </a:ext>
            </a:extLst>
          </p:cNvPr>
          <p:cNvGrpSpPr/>
          <p:nvPr/>
        </p:nvGrpSpPr>
        <p:grpSpPr>
          <a:xfrm>
            <a:off x="8041879" y="3479371"/>
            <a:ext cx="3810000" cy="812965"/>
            <a:chOff x="289034" y="5239983"/>
            <a:chExt cx="6124226" cy="1306767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99BC236-A1FD-F18F-5FE2-BEEECB43E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47939"/>
            <a:stretch>
              <a:fillRect/>
            </a:stretch>
          </p:blipFill>
          <p:spPr>
            <a:xfrm>
              <a:off x="289034" y="5623033"/>
              <a:ext cx="6124226" cy="923717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2D3DBAC-7836-CB9B-751D-DC933CF758F5}"/>
                </a:ext>
              </a:extLst>
            </p:cNvPr>
            <p:cNvSpPr/>
            <p:nvPr/>
          </p:nvSpPr>
          <p:spPr>
            <a:xfrm>
              <a:off x="5097517" y="5444359"/>
              <a:ext cx="735724" cy="56172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28D7938-3CC9-9AF1-9D99-4A4CF781EB8D}"/>
                </a:ext>
              </a:extLst>
            </p:cNvPr>
            <p:cNvSpPr/>
            <p:nvPr/>
          </p:nvSpPr>
          <p:spPr>
            <a:xfrm>
              <a:off x="2694251" y="5342171"/>
              <a:ext cx="735724" cy="56172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A863276-0040-14AC-37FE-A30E00F41C90}"/>
                </a:ext>
              </a:extLst>
            </p:cNvPr>
            <p:cNvSpPr/>
            <p:nvPr/>
          </p:nvSpPr>
          <p:spPr>
            <a:xfrm>
              <a:off x="290985" y="5239983"/>
              <a:ext cx="735724" cy="56172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 7">
            <a:extLst>
              <a:ext uri="{FF2B5EF4-FFF2-40B4-BE49-F238E27FC236}">
                <a16:creationId xmlns:a16="http://schemas.microsoft.com/office/drawing/2014/main" id="{71CE1AC5-F24A-3DCD-7B1D-174777C54280}"/>
              </a:ext>
            </a:extLst>
          </p:cNvPr>
          <p:cNvSpPr>
            <a:spLocks/>
          </p:cNvSpPr>
          <p:nvPr/>
        </p:nvSpPr>
        <p:spPr bwMode="auto">
          <a:xfrm>
            <a:off x="8225001" y="4386606"/>
            <a:ext cx="379591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r" hangingPunct="0"/>
            <a:r>
              <a:rPr lang="en-US" dirty="0">
                <a:latin typeface="Arial" charset="0"/>
                <a:cs typeface="Arial" charset="0"/>
                <a:sym typeface="Arial" charset="0"/>
              </a:rPr>
              <a:t>Enhancer activation and transcription</a:t>
            </a:r>
            <a:endParaRPr lang="en-US" dirty="0"/>
          </a:p>
        </p:txBody>
      </p:sp>
      <p:sp>
        <p:nvSpPr>
          <p:cNvPr id="13" name="Pie 12">
            <a:extLst>
              <a:ext uri="{FF2B5EF4-FFF2-40B4-BE49-F238E27FC236}">
                <a16:creationId xmlns:a16="http://schemas.microsoft.com/office/drawing/2014/main" id="{C8A80CC5-6690-8BB0-2BF2-4D986BD76457}"/>
              </a:ext>
            </a:extLst>
          </p:cNvPr>
          <p:cNvSpPr/>
          <p:nvPr/>
        </p:nvSpPr>
        <p:spPr>
          <a:xfrm rot="6753461">
            <a:off x="9622051" y="3959406"/>
            <a:ext cx="457708" cy="492965"/>
          </a:xfrm>
          <a:prstGeom prst="pie">
            <a:avLst>
              <a:gd name="adj1" fmla="val 1660866"/>
              <a:gd name="adj2" fmla="val 15304119"/>
            </a:avLst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91350246-1160-830F-FBDA-422AE81DF353}"/>
              </a:ext>
            </a:extLst>
          </p:cNvPr>
          <p:cNvSpPr>
            <a:spLocks/>
          </p:cNvSpPr>
          <p:nvPr/>
        </p:nvSpPr>
        <p:spPr bwMode="auto">
          <a:xfrm>
            <a:off x="9644226" y="4040224"/>
            <a:ext cx="384721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r" hangingPunct="0"/>
            <a:r>
              <a:rPr lang="en-US" sz="1200" dirty="0">
                <a:latin typeface="Arial" charset="0"/>
                <a:cs typeface="Arial" charset="0"/>
                <a:sym typeface="Arial" charset="0"/>
              </a:rPr>
              <a:t>Poll II</a:t>
            </a:r>
            <a:endParaRPr lang="en-US" sz="1200" dirty="0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798F42D8-80D0-0AE7-1D60-5B0E0A96ACA1}"/>
              </a:ext>
            </a:extLst>
          </p:cNvPr>
          <p:cNvSpPr/>
          <p:nvPr/>
        </p:nvSpPr>
        <p:spPr>
          <a:xfrm flipH="1">
            <a:off x="4875087" y="1046188"/>
            <a:ext cx="782595" cy="531341"/>
          </a:xfrm>
          <a:prstGeom prst="rightArrow">
            <a:avLst/>
          </a:prstGeom>
          <a:solidFill>
            <a:srgbClr val="8B18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059414C2-A34D-ECD8-E0C5-F2C5E89DCD1F}"/>
              </a:ext>
            </a:extLst>
          </p:cNvPr>
          <p:cNvSpPr/>
          <p:nvPr/>
        </p:nvSpPr>
        <p:spPr>
          <a:xfrm flipH="1">
            <a:off x="4875087" y="2600399"/>
            <a:ext cx="782595" cy="531341"/>
          </a:xfrm>
          <a:prstGeom prst="rightArrow">
            <a:avLst/>
          </a:prstGeom>
          <a:solidFill>
            <a:srgbClr val="8B18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F4DE1DCD-50A8-7E92-3E7C-8F151ECFFE01}"/>
              </a:ext>
            </a:extLst>
          </p:cNvPr>
          <p:cNvSpPr/>
          <p:nvPr/>
        </p:nvSpPr>
        <p:spPr>
          <a:xfrm flipH="1">
            <a:off x="4875087" y="5708820"/>
            <a:ext cx="782595" cy="531341"/>
          </a:xfrm>
          <a:prstGeom prst="rightArrow">
            <a:avLst/>
          </a:prstGeom>
          <a:solidFill>
            <a:srgbClr val="8B18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0A7094-6271-DA91-EB4E-22383999E9D6}"/>
              </a:ext>
            </a:extLst>
          </p:cNvPr>
          <p:cNvSpPr>
            <a:spLocks/>
          </p:cNvSpPr>
          <p:nvPr/>
        </p:nvSpPr>
        <p:spPr bwMode="auto">
          <a:xfrm>
            <a:off x="571833" y="757860"/>
            <a:ext cx="4172231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r" hangingPunct="0"/>
            <a:r>
              <a:rPr lang="en-US" b="1" dirty="0">
                <a:latin typeface="Arial" charset="0"/>
                <a:cs typeface="Arial" charset="0"/>
              </a:rPr>
              <a:t>DNase-seq</a:t>
            </a:r>
          </a:p>
          <a:p>
            <a:pPr algn="r" hangingPunct="0"/>
            <a:r>
              <a:rPr lang="en-US" dirty="0">
                <a:solidFill>
                  <a:srgbClr val="202124"/>
                </a:solidFill>
                <a:latin typeface="Google Sans"/>
              </a:rPr>
              <a:t>DNase 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I hypersensitive sites sequencing</a:t>
            </a:r>
            <a:endParaRPr lang="en-US" b="1" dirty="0">
              <a:latin typeface="Arial" charset="0"/>
              <a:cs typeface="Arial" charset="0"/>
              <a:sym typeface="Arial" charset="0"/>
            </a:endParaRPr>
          </a:p>
          <a:p>
            <a:pPr algn="r" hangingPunct="0"/>
            <a:r>
              <a:rPr lang="en-US" b="1" dirty="0" err="1">
                <a:latin typeface="Arial" charset="0"/>
                <a:cs typeface="Arial" charset="0"/>
                <a:sym typeface="Arial" charset="0"/>
              </a:rPr>
              <a:t>ATACseq</a:t>
            </a:r>
            <a:endParaRPr lang="en-US" b="1" dirty="0">
              <a:latin typeface="Arial" charset="0"/>
              <a:cs typeface="Arial" charset="0"/>
              <a:sym typeface="Arial" charset="0"/>
            </a:endParaRPr>
          </a:p>
          <a:p>
            <a:pPr algn="r" hangingPunct="0"/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Assay for Transposase-Accessible </a:t>
            </a:r>
            <a:r>
              <a:rPr lang="en-US" dirty="0">
                <a:solidFill>
                  <a:srgbClr val="202124"/>
                </a:solidFill>
                <a:latin typeface="Google Sans"/>
              </a:rPr>
              <a:t>C</a:t>
            </a:r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hromatin</a:t>
            </a:r>
            <a:r>
              <a:rPr lang="en-US" dirty="0">
                <a:solidFill>
                  <a:srgbClr val="202124"/>
                </a:solidFill>
                <a:latin typeface="Google Sans"/>
              </a:rPr>
              <a:t> 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0BE61F-BD6E-8256-6638-8DDDA658A506}"/>
              </a:ext>
            </a:extLst>
          </p:cNvPr>
          <p:cNvSpPr>
            <a:spLocks/>
          </p:cNvSpPr>
          <p:nvPr/>
        </p:nvSpPr>
        <p:spPr bwMode="auto">
          <a:xfrm>
            <a:off x="1144410" y="5711895"/>
            <a:ext cx="3616183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r" hangingPunct="0"/>
            <a:r>
              <a:rPr lang="en-US" b="1" dirty="0" err="1">
                <a:latin typeface="Arial" charset="0"/>
                <a:cs typeface="Arial" charset="0"/>
                <a:sym typeface="Arial" charset="0"/>
              </a:rPr>
              <a:t>HiC</a:t>
            </a:r>
            <a:endParaRPr lang="en-US" b="1" dirty="0">
              <a:latin typeface="Arial" charset="0"/>
              <a:cs typeface="Arial" charset="0"/>
              <a:sym typeface="Arial" charset="0"/>
            </a:endParaRPr>
          </a:p>
          <a:p>
            <a:pPr algn="r" hangingPunct="0"/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map chromatin contacts genome-wide</a:t>
            </a:r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A4EA34F-3F85-4BA5-1DB7-F3DEED693974}"/>
              </a:ext>
            </a:extLst>
          </p:cNvPr>
          <p:cNvSpPr>
            <a:spLocks/>
          </p:cNvSpPr>
          <p:nvPr/>
        </p:nvSpPr>
        <p:spPr bwMode="auto">
          <a:xfrm>
            <a:off x="102908" y="2295136"/>
            <a:ext cx="4657685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r" hangingPunct="0"/>
            <a:r>
              <a:rPr lang="en-US" b="1" dirty="0" err="1">
                <a:latin typeface="Arial" charset="0"/>
                <a:cs typeface="Arial" charset="0"/>
                <a:sym typeface="Arial" charset="0"/>
              </a:rPr>
              <a:t>ChIPseq</a:t>
            </a:r>
            <a:endParaRPr lang="en-US" b="1" dirty="0">
              <a:latin typeface="Arial" charset="0"/>
              <a:cs typeface="Arial" charset="0"/>
              <a:sym typeface="Arial" charset="0"/>
            </a:endParaRPr>
          </a:p>
          <a:p>
            <a:pPr algn="r" hangingPunct="0"/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Chromatin </a:t>
            </a:r>
            <a:r>
              <a:rPr lang="en-US" dirty="0">
                <a:solidFill>
                  <a:srgbClr val="040C28"/>
                </a:solidFill>
                <a:latin typeface="Google Sans"/>
              </a:rPr>
              <a:t>Immunoprecipitation</a:t>
            </a:r>
            <a:endParaRPr lang="en-US" b="1" dirty="0">
              <a:latin typeface="Arial" charset="0"/>
              <a:cs typeface="Arial" charset="0"/>
              <a:sym typeface="Arial" charset="0"/>
            </a:endParaRPr>
          </a:p>
          <a:p>
            <a:pPr algn="r" hangingPunct="0"/>
            <a:r>
              <a:rPr lang="en-US" b="1" dirty="0">
                <a:latin typeface="Arial" charset="0"/>
                <a:cs typeface="Arial" charset="0"/>
                <a:sym typeface="Arial" charset="0"/>
              </a:rPr>
              <a:t>CUT&amp;RUN</a:t>
            </a:r>
            <a:r>
              <a:rPr lang="en-US" b="1" dirty="0">
                <a:solidFill>
                  <a:srgbClr val="040C28"/>
                </a:solidFill>
                <a:latin typeface="Google Sans"/>
              </a:rPr>
              <a:t> </a:t>
            </a:r>
          </a:p>
          <a:p>
            <a:pPr algn="r" hangingPunct="0"/>
            <a:r>
              <a:rPr lang="en-US" dirty="0">
                <a:solidFill>
                  <a:srgbClr val="040C28"/>
                </a:solidFill>
                <a:latin typeface="Google Sans"/>
              </a:rPr>
              <a:t>Cleavage Under Targets &amp; Release Using Nuclease</a:t>
            </a:r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791118D9-4750-CC3B-F574-345406C6EB0D}"/>
              </a:ext>
            </a:extLst>
          </p:cNvPr>
          <p:cNvSpPr/>
          <p:nvPr/>
        </p:nvSpPr>
        <p:spPr>
          <a:xfrm flipH="1">
            <a:off x="4875087" y="4154610"/>
            <a:ext cx="782595" cy="531341"/>
          </a:xfrm>
          <a:prstGeom prst="rightArrow">
            <a:avLst/>
          </a:prstGeom>
          <a:solidFill>
            <a:srgbClr val="8B18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F9D246-6D8D-9C80-04FE-7FAF74670797}"/>
              </a:ext>
            </a:extLst>
          </p:cNvPr>
          <p:cNvSpPr>
            <a:spLocks/>
          </p:cNvSpPr>
          <p:nvPr/>
        </p:nvSpPr>
        <p:spPr bwMode="auto">
          <a:xfrm>
            <a:off x="2283967" y="4150067"/>
            <a:ext cx="2460097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r" hangingPunct="0"/>
            <a:r>
              <a:rPr lang="en-US" b="1" dirty="0" err="1">
                <a:latin typeface="Arial" charset="0"/>
                <a:cs typeface="Arial" charset="0"/>
                <a:sym typeface="Arial" charset="0"/>
              </a:rPr>
              <a:t>PROseq</a:t>
            </a:r>
            <a:r>
              <a:rPr lang="en-US" b="1" dirty="0">
                <a:latin typeface="Arial" charset="0"/>
                <a:cs typeface="Arial" charset="0"/>
                <a:sym typeface="Arial" charset="0"/>
              </a:rPr>
              <a:t> / </a:t>
            </a:r>
            <a:r>
              <a:rPr lang="en-US" b="1" dirty="0" err="1">
                <a:latin typeface="Arial" charset="0"/>
                <a:cs typeface="Arial" charset="0"/>
                <a:sym typeface="Arial" charset="0"/>
              </a:rPr>
              <a:t>GROseq</a:t>
            </a:r>
            <a:endParaRPr lang="en-US" b="1" dirty="0">
              <a:latin typeface="Arial" charset="0"/>
              <a:cs typeface="Arial" charset="0"/>
              <a:sym typeface="Arial" charset="0"/>
            </a:endParaRPr>
          </a:p>
          <a:p>
            <a:pPr algn="r" hangingPunct="0"/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“</a:t>
            </a:r>
            <a:r>
              <a:rPr lang="en-US" b="0" i="0" dirty="0" err="1">
                <a:solidFill>
                  <a:srgbClr val="040C28"/>
                </a:solidFill>
                <a:effectLst/>
                <a:latin typeface="Google Sans"/>
              </a:rPr>
              <a:t>nascent”RNA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 sequencing</a:t>
            </a:r>
            <a:endParaRPr lang="en-US" b="1" dirty="0">
              <a:latin typeface="Arial" charset="0"/>
              <a:cs typeface="Arial" charset="0"/>
              <a:sym typeface="Arial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9DF9863-44C4-F4B6-4007-686A6384EF39}"/>
              </a:ext>
            </a:extLst>
          </p:cNvPr>
          <p:cNvSpPr/>
          <p:nvPr/>
        </p:nvSpPr>
        <p:spPr>
          <a:xfrm>
            <a:off x="134093" y="5260002"/>
            <a:ext cx="11975791" cy="1578357"/>
          </a:xfrm>
          <a:prstGeom prst="rect">
            <a:avLst/>
          </a:prstGeom>
          <a:noFill/>
          <a:ln w="38100">
            <a:solidFill>
              <a:srgbClr val="F796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963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32022-07CC-8A0E-A745-E0736F5B4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96822A5-7E49-907C-563B-AD571E0ECB3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2667000" y="830984"/>
            <a:ext cx="6858000" cy="519603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28F484B-2C09-1421-8635-32604E5AF457}"/>
              </a:ext>
            </a:extLst>
          </p:cNvPr>
          <p:cNvSpPr txBox="1"/>
          <p:nvPr/>
        </p:nvSpPr>
        <p:spPr>
          <a:xfrm>
            <a:off x="8804867" y="1536981"/>
            <a:ext cx="3017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dirty="0"/>
              <a:t>Genome conformation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3E07F4-10D4-747F-DB42-1B5346A333A6}"/>
              </a:ext>
            </a:extLst>
          </p:cNvPr>
          <p:cNvSpPr txBox="1"/>
          <p:nvPr/>
        </p:nvSpPr>
        <p:spPr>
          <a:xfrm>
            <a:off x="1844039" y="0"/>
            <a:ext cx="103479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Cellular transitions are controlled by GENE REGULATORY NETWORKS</a:t>
            </a:r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E530CA8E-126D-1A76-BFD2-C8822C9F6A42}"/>
              </a:ext>
            </a:extLst>
          </p:cNvPr>
          <p:cNvSpPr/>
          <p:nvPr/>
        </p:nvSpPr>
        <p:spPr>
          <a:xfrm rot="17429148">
            <a:off x="4068198" y="1638603"/>
            <a:ext cx="805980" cy="848833"/>
          </a:xfrm>
          <a:prstGeom prst="arc">
            <a:avLst>
              <a:gd name="adj1" fmla="val 14283548"/>
              <a:gd name="adj2" fmla="val 3179781"/>
            </a:avLst>
          </a:prstGeom>
          <a:ln w="38100">
            <a:solidFill>
              <a:srgbClr val="B71375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28E8B240-B473-16A3-9031-7175EB019450}"/>
              </a:ext>
            </a:extLst>
          </p:cNvPr>
          <p:cNvSpPr/>
          <p:nvPr/>
        </p:nvSpPr>
        <p:spPr>
          <a:xfrm rot="17429148">
            <a:off x="3209198" y="5188738"/>
            <a:ext cx="805980" cy="848833"/>
          </a:xfrm>
          <a:prstGeom prst="arc">
            <a:avLst>
              <a:gd name="adj1" fmla="val 14283548"/>
              <a:gd name="adj2" fmla="val 3179781"/>
            </a:avLst>
          </a:prstGeom>
          <a:ln w="38100">
            <a:solidFill>
              <a:srgbClr val="F7964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AEB41E73-DC51-E1A8-566A-F13CE9B71844}"/>
              </a:ext>
            </a:extLst>
          </p:cNvPr>
          <p:cNvSpPr/>
          <p:nvPr/>
        </p:nvSpPr>
        <p:spPr>
          <a:xfrm rot="17429148">
            <a:off x="7584350" y="3534701"/>
            <a:ext cx="805980" cy="848833"/>
          </a:xfrm>
          <a:prstGeom prst="arc">
            <a:avLst>
              <a:gd name="adj1" fmla="val 14283548"/>
              <a:gd name="adj2" fmla="val 3179781"/>
            </a:avLst>
          </a:prstGeom>
          <a:ln w="38100">
            <a:solidFill>
              <a:srgbClr val="B71375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0ED9C5D6-F17E-6EDC-8E1F-8605ED7F4C1A}"/>
              </a:ext>
            </a:extLst>
          </p:cNvPr>
          <p:cNvSpPr/>
          <p:nvPr/>
        </p:nvSpPr>
        <p:spPr>
          <a:xfrm rot="17429148">
            <a:off x="3512405" y="3133806"/>
            <a:ext cx="1209472" cy="1755410"/>
          </a:xfrm>
          <a:prstGeom prst="arc">
            <a:avLst>
              <a:gd name="adj1" fmla="val 14283548"/>
              <a:gd name="adj2" fmla="val 2941772"/>
            </a:avLst>
          </a:prstGeom>
          <a:ln w="38100">
            <a:solidFill>
              <a:srgbClr val="FD4E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3065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22B90-61A3-721A-B21B-0D1E29E19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AE6341-B74B-AADE-9036-74B23EFCBFD7}"/>
              </a:ext>
            </a:extLst>
          </p:cNvPr>
          <p:cNvSpPr/>
          <p:nvPr/>
        </p:nvSpPr>
        <p:spPr>
          <a:xfrm>
            <a:off x="0" y="3741251"/>
            <a:ext cx="3938155" cy="25873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B8B502-63FE-6744-0D07-E7687509CEAD}"/>
              </a:ext>
            </a:extLst>
          </p:cNvPr>
          <p:cNvSpPr/>
          <p:nvPr/>
        </p:nvSpPr>
        <p:spPr>
          <a:xfrm>
            <a:off x="0" y="841664"/>
            <a:ext cx="3938155" cy="25873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E7CEBE-1093-FB57-9878-7F8C81B1FAAC}"/>
              </a:ext>
            </a:extLst>
          </p:cNvPr>
          <p:cNvSpPr/>
          <p:nvPr/>
        </p:nvSpPr>
        <p:spPr>
          <a:xfrm>
            <a:off x="4126923" y="841664"/>
            <a:ext cx="3938155" cy="25873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FF6C1E7-1045-DEB4-0B39-43207CC480FA}"/>
              </a:ext>
            </a:extLst>
          </p:cNvPr>
          <p:cNvSpPr/>
          <p:nvPr/>
        </p:nvSpPr>
        <p:spPr>
          <a:xfrm>
            <a:off x="8253845" y="841664"/>
            <a:ext cx="3938155" cy="25873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452693-9A9B-F1EF-03EA-3D62365ED21B}"/>
              </a:ext>
            </a:extLst>
          </p:cNvPr>
          <p:cNvSpPr txBox="1"/>
          <p:nvPr/>
        </p:nvSpPr>
        <p:spPr>
          <a:xfrm>
            <a:off x="7041615" y="0"/>
            <a:ext cx="51503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Topics to be covered - Techniques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D6EE73A-2E3A-FD39-70DB-CAEEB22B0092}"/>
              </a:ext>
            </a:extLst>
          </p:cNvPr>
          <p:cNvSpPr txBox="1"/>
          <p:nvPr/>
        </p:nvSpPr>
        <p:spPr>
          <a:xfrm>
            <a:off x="1788677" y="841664"/>
            <a:ext cx="21474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8B1874"/>
                </a:solidFill>
              </a:rPr>
              <a:t>GENE EXPRESSION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5C60E7-99D3-0F0B-4B92-CA8782E77083}"/>
              </a:ext>
            </a:extLst>
          </p:cNvPr>
          <p:cNvSpPr txBox="1"/>
          <p:nvPr/>
        </p:nvSpPr>
        <p:spPr>
          <a:xfrm>
            <a:off x="5340229" y="826533"/>
            <a:ext cx="2724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D4E00"/>
                </a:solidFill>
              </a:rPr>
              <a:t>EPIGENOMIC REGULATION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42F168-DC1C-306F-190C-51B8992B1D5B}"/>
              </a:ext>
            </a:extLst>
          </p:cNvPr>
          <p:cNvSpPr txBox="1"/>
          <p:nvPr/>
        </p:nvSpPr>
        <p:spPr>
          <a:xfrm>
            <a:off x="9758833" y="826533"/>
            <a:ext cx="24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79640"/>
                </a:solidFill>
              </a:rPr>
              <a:t>DNA-PROTEIN BINDING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2780C7-ECD3-5EA6-E47D-8961EB8DE421}"/>
              </a:ext>
            </a:extLst>
          </p:cNvPr>
          <p:cNvSpPr txBox="1"/>
          <p:nvPr/>
        </p:nvSpPr>
        <p:spPr>
          <a:xfrm>
            <a:off x="3017283" y="1434842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RNAseq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09A953-5321-8552-1397-EBD38CD9F8FD}"/>
              </a:ext>
            </a:extLst>
          </p:cNvPr>
          <p:cNvSpPr txBox="1"/>
          <p:nvPr/>
        </p:nvSpPr>
        <p:spPr>
          <a:xfrm>
            <a:off x="7089362" y="1434842"/>
            <a:ext cx="975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ATACseq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07CD8F-E3A2-9756-120A-CF6055465DD2}"/>
              </a:ext>
            </a:extLst>
          </p:cNvPr>
          <p:cNvSpPr txBox="1"/>
          <p:nvPr/>
        </p:nvSpPr>
        <p:spPr>
          <a:xfrm>
            <a:off x="1621580" y="2101912"/>
            <a:ext cx="2314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Spatial transcriptomics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F8DAA7D-F6B1-A8A0-F3D1-8C5481A60C6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6551" b="97995" l="64049" r="96169">
                        <a14:foregroundMark x1="65837" y1="90374" x2="65837" y2="90374"/>
                        <a14:foregroundMark x1="66667" y1="95187" x2="66667" y2="95187"/>
                        <a14:foregroundMark x1="82759" y1="94385" x2="82759" y2="94385"/>
                        <a14:foregroundMark x1="84674" y1="98128" x2="84674" y2="98128"/>
                        <a14:foregroundMark x1="74010" y1="94519" x2="74010" y2="94519"/>
                        <a14:foregroundMark x1="75734" y1="94519" x2="75734" y2="94519"/>
                        <a14:foregroundMark x1="64049" y1="94786" x2="64049" y2="94786"/>
                      </a14:backgroundRemoval>
                    </a14:imgEffect>
                  </a14:imgLayer>
                </a14:imgProps>
              </a:ext>
            </a:extLst>
          </a:blip>
          <a:srcRect l="63455" t="51992" r="121"/>
          <a:stretch/>
        </p:blipFill>
        <p:spPr>
          <a:xfrm>
            <a:off x="43960" y="4519019"/>
            <a:ext cx="2874306" cy="180956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AA6BAA6-37B4-B63B-51B5-24BD1CED7B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03" b="98232" l="3728" r="95775">
                        <a14:foregroundMark x1="49544" y1="41026" x2="49544" y2="41026"/>
                        <a14:foregroundMark x1="46065" y1="20248" x2="46065" y2="20248"/>
                        <a14:foregroundMark x1="67523" y1="37843" x2="67523" y2="37843"/>
                        <a14:foregroundMark x1="85915" y1="50575" x2="85915" y2="50575"/>
                        <a14:foregroundMark x1="75062" y1="76304" x2="75062" y2="76304"/>
                        <a14:foregroundMark x1="65369" y1="76304" x2="65369" y2="76304"/>
                        <a14:foregroundMark x1="92046" y1="88683" x2="92046" y2="88683"/>
                        <a14:foregroundMark x1="83264" y1="88683" x2="83264" y2="88683"/>
                        <a14:foregroundMark x1="90638" y1="98408" x2="90638" y2="98408"/>
                        <a14:foregroundMark x1="95775" y1="89655" x2="95775" y2="89655"/>
                        <a14:foregroundMark x1="50621" y1="39523" x2="50621" y2="39523"/>
                        <a14:foregroundMark x1="50621" y1="39523" x2="50621" y2="39523"/>
                        <a14:foregroundMark x1="32726" y1="39523" x2="32726" y2="39523"/>
                        <a14:foregroundMark x1="44656" y1="47480" x2="44656" y2="47480"/>
                        <a14:foregroundMark x1="58575" y1="42263" x2="58575" y2="42263"/>
                        <a14:foregroundMark x1="50621" y1="27144" x2="50621" y2="27144"/>
                        <a14:foregroundMark x1="53770" y1="28294" x2="53770" y2="28294"/>
                        <a14:foregroundMark x1="46893" y1="28028" x2="46893" y2="28028"/>
                        <a14:foregroundMark x1="55178" y1="39257" x2="55178" y2="39257"/>
                        <a14:foregroundMark x1="55758" y1="44739" x2="55758" y2="44739"/>
                        <a14:foregroundMark x1="50290" y1="41026" x2="50290" y2="41026"/>
                        <a14:foregroundMark x1="51781" y1="42263" x2="51781" y2="42263"/>
                        <a14:foregroundMark x1="35874" y1="40141" x2="35874" y2="40141"/>
                        <a14:foregroundMark x1="21375" y1="75685" x2="21375" y2="75685"/>
                        <a14:foregroundMark x1="3728" y1="59240" x2="3728" y2="5924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03120" y="1195865"/>
            <a:ext cx="1892956" cy="1771990"/>
          </a:xfrm>
          <a:prstGeom prst="rect">
            <a:avLst/>
          </a:prstGeom>
        </p:spPr>
      </p:pic>
      <p:pic>
        <p:nvPicPr>
          <p:cNvPr id="31" name="Picture 30" descr="Chart, bar chart&#10;&#10;Description automatically generated">
            <a:extLst>
              <a:ext uri="{FF2B5EF4-FFF2-40B4-BE49-F238E27FC236}">
                <a16:creationId xmlns:a16="http://schemas.microsoft.com/office/drawing/2014/main" id="{712B6FF6-619F-ACF5-CAA2-5DA07F01250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1749" t="5584" r="20846" b="12153"/>
          <a:stretch/>
        </p:blipFill>
        <p:spPr>
          <a:xfrm>
            <a:off x="101298" y="1342672"/>
            <a:ext cx="1489149" cy="18878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72B15A-F978-3A8D-CE61-98CC035E490C}"/>
              </a:ext>
            </a:extLst>
          </p:cNvPr>
          <p:cNvSpPr txBox="1"/>
          <p:nvPr/>
        </p:nvSpPr>
        <p:spPr>
          <a:xfrm>
            <a:off x="1050141" y="3759647"/>
            <a:ext cx="28859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8B1874"/>
                </a:solidFill>
              </a:rPr>
              <a:t>GENOME ORGANIZATION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31FCD8-BA3A-F6BC-A30B-B63DAC503221}"/>
              </a:ext>
            </a:extLst>
          </p:cNvPr>
          <p:cNvSpPr txBox="1"/>
          <p:nvPr/>
        </p:nvSpPr>
        <p:spPr>
          <a:xfrm>
            <a:off x="964733" y="4154722"/>
            <a:ext cx="2971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3D genome organization - </a:t>
            </a:r>
            <a:r>
              <a:rPr lang="en-US" dirty="0" err="1"/>
              <a:t>HiC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C71425-EAE9-66FF-ECAF-E6DA7434BC20}"/>
              </a:ext>
            </a:extLst>
          </p:cNvPr>
          <p:cNvSpPr/>
          <p:nvPr/>
        </p:nvSpPr>
        <p:spPr>
          <a:xfrm>
            <a:off x="4126923" y="3741251"/>
            <a:ext cx="3938155" cy="25873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F2C73D-DF61-E837-8B44-0FB0B5F7BDFC}"/>
              </a:ext>
            </a:extLst>
          </p:cNvPr>
          <p:cNvSpPr txBox="1"/>
          <p:nvPr/>
        </p:nvSpPr>
        <p:spPr>
          <a:xfrm>
            <a:off x="5895830" y="3759647"/>
            <a:ext cx="2169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D4E00"/>
                </a:solidFill>
              </a:rPr>
              <a:t>ENHANCER ACTIVITY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8E5A36-6C4F-9503-05F9-0615CE816DD0}"/>
              </a:ext>
            </a:extLst>
          </p:cNvPr>
          <p:cNvSpPr txBox="1"/>
          <p:nvPr/>
        </p:nvSpPr>
        <p:spPr>
          <a:xfrm>
            <a:off x="6405404" y="4132215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eRNA</a:t>
            </a:r>
            <a:r>
              <a:rPr lang="en-US" dirty="0"/>
              <a:t> mapping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A50EB41-A221-22FA-41D4-0D5BC3B96741}"/>
              </a:ext>
            </a:extLst>
          </p:cNvPr>
          <p:cNvSpPr/>
          <p:nvPr/>
        </p:nvSpPr>
        <p:spPr>
          <a:xfrm>
            <a:off x="8253845" y="3741251"/>
            <a:ext cx="3938155" cy="25873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41DCCA-F3F3-03E8-0468-17C673EE1F8F}"/>
              </a:ext>
            </a:extLst>
          </p:cNvPr>
          <p:cNvSpPr txBox="1"/>
          <p:nvPr/>
        </p:nvSpPr>
        <p:spPr>
          <a:xfrm>
            <a:off x="9304415" y="3759647"/>
            <a:ext cx="2887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79640"/>
                </a:solidFill>
              </a:rPr>
              <a:t>SINGLE-CELL TECHNOLOGIES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A630CF-5C00-7066-FF1C-841207AFFA37}"/>
              </a:ext>
            </a:extLst>
          </p:cNvPr>
          <p:cNvSpPr txBox="1"/>
          <p:nvPr/>
        </p:nvSpPr>
        <p:spPr>
          <a:xfrm>
            <a:off x="8662808" y="4132215"/>
            <a:ext cx="3529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Transcriptomics / </a:t>
            </a:r>
            <a:r>
              <a:rPr lang="en-US" dirty="0" err="1"/>
              <a:t>Multiome</a:t>
            </a:r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43DE2B2-9D2B-0990-A452-05367C35C2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287501" y="1583527"/>
            <a:ext cx="2314544" cy="132040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D476701-60EE-C2D1-05DE-9FEE058A70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178798" y="4691345"/>
            <a:ext cx="1929058" cy="1596949"/>
          </a:xfrm>
          <a:prstGeom prst="rect">
            <a:avLst/>
          </a:prstGeom>
        </p:spPr>
      </p:pic>
      <p:pic>
        <p:nvPicPr>
          <p:cNvPr id="35" name="Picture 2" descr="MU DNA Core Facility">
            <a:extLst>
              <a:ext uri="{FF2B5EF4-FFF2-40B4-BE49-F238E27FC236}">
                <a16:creationId xmlns:a16="http://schemas.microsoft.com/office/drawing/2014/main" id="{5703DF83-E9BE-B702-FA54-10DE278CB6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/>
          <a:srcRect t="2833" r="45640" b="48768"/>
          <a:stretch>
            <a:fillRect/>
          </a:stretch>
        </p:blipFill>
        <p:spPr bwMode="auto">
          <a:xfrm>
            <a:off x="8284195" y="4795032"/>
            <a:ext cx="3410157" cy="1443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C8D7C4D-6CD4-C6E9-3872-39DA40DF7A6D}"/>
              </a:ext>
            </a:extLst>
          </p:cNvPr>
          <p:cNvSpPr/>
          <p:nvPr/>
        </p:nvSpPr>
        <p:spPr>
          <a:xfrm>
            <a:off x="4021532" y="3586343"/>
            <a:ext cx="8170468" cy="3000241"/>
          </a:xfrm>
          <a:prstGeom prst="rect">
            <a:avLst/>
          </a:prstGeom>
          <a:solidFill>
            <a:srgbClr val="FFFFFF">
              <a:alpha val="7529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76B538-8CAB-26FD-5335-4356CC5E9F78}"/>
              </a:ext>
            </a:extLst>
          </p:cNvPr>
          <p:cNvSpPr txBox="1"/>
          <p:nvPr/>
        </p:nvSpPr>
        <p:spPr>
          <a:xfrm>
            <a:off x="8662808" y="1434842"/>
            <a:ext cx="35291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/>
              <a:t>ChIPseq</a:t>
            </a:r>
            <a:br>
              <a:rPr lang="en-US" dirty="0"/>
            </a:br>
            <a:r>
              <a:rPr lang="en-US" dirty="0"/>
              <a:t>CUT&amp;RUN</a:t>
            </a:r>
            <a:br>
              <a:rPr lang="en-US" dirty="0"/>
            </a:br>
            <a:r>
              <a:rPr lang="en-US" dirty="0"/>
              <a:t>CUT&amp;TAG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3CBF9C-9553-DA86-77AB-197A2CEBE7A7}"/>
              </a:ext>
            </a:extLst>
          </p:cNvPr>
          <p:cNvSpPr/>
          <p:nvPr/>
        </p:nvSpPr>
        <p:spPr>
          <a:xfrm>
            <a:off x="-273269" y="826533"/>
            <a:ext cx="12643945" cy="2725964"/>
          </a:xfrm>
          <a:prstGeom prst="rect">
            <a:avLst/>
          </a:prstGeom>
          <a:solidFill>
            <a:srgbClr val="FFFFFF">
              <a:alpha val="7529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9798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ig. 1: The hierarchical organization of the 3D genome.">
            <a:extLst>
              <a:ext uri="{FF2B5EF4-FFF2-40B4-BE49-F238E27FC236}">
                <a16:creationId xmlns:a16="http://schemas.microsoft.com/office/drawing/2014/main" id="{3604A7B2-C487-DDF4-9C37-78BCD255A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450" y="712303"/>
            <a:ext cx="5333099" cy="58971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C53A85-4A22-F440-7414-487393F8877F}"/>
              </a:ext>
            </a:extLst>
          </p:cNvPr>
          <p:cNvSpPr txBox="1"/>
          <p:nvPr/>
        </p:nvSpPr>
        <p:spPr>
          <a:xfrm>
            <a:off x="9267097" y="6488668"/>
            <a:ext cx="2924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Zheng and Xie, 2019. Nat Rev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AAE53-2658-2093-B751-F1F8FDC9904F}"/>
              </a:ext>
            </a:extLst>
          </p:cNvPr>
          <p:cNvSpPr txBox="1"/>
          <p:nvPr/>
        </p:nvSpPr>
        <p:spPr>
          <a:xfrm>
            <a:off x="4968869" y="0"/>
            <a:ext cx="72231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hierarchical organization of the 3D genome</a:t>
            </a:r>
          </a:p>
        </p:txBody>
      </p:sp>
    </p:spTree>
    <p:extLst>
      <p:ext uri="{BB962C8B-B14F-4D97-AF65-F5344CB8AC3E}">
        <p14:creationId xmlns:p14="http://schemas.microsoft.com/office/powerpoint/2010/main" val="41530937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A26E41E-C8B6-C69C-478A-17AF9BE0F5BC}"/>
              </a:ext>
            </a:extLst>
          </p:cNvPr>
          <p:cNvSpPr txBox="1"/>
          <p:nvPr/>
        </p:nvSpPr>
        <p:spPr>
          <a:xfrm>
            <a:off x="5281517" y="0"/>
            <a:ext cx="69104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Chromatin Conformation Capture Techniques</a:t>
            </a:r>
          </a:p>
        </p:txBody>
      </p:sp>
      <p:pic>
        <p:nvPicPr>
          <p:cNvPr id="7" name="Picture 6" descr="Comparison among 3C and its derived methods.">
            <a:extLst>
              <a:ext uri="{FF2B5EF4-FFF2-40B4-BE49-F238E27FC236}">
                <a16:creationId xmlns:a16="http://schemas.microsoft.com/office/drawing/2014/main" id="{354B5D44-6AFF-B74B-ABDC-56DC56AB3E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7" t="34090" r="81014" b="1818"/>
          <a:stretch/>
        </p:blipFill>
        <p:spPr bwMode="auto">
          <a:xfrm>
            <a:off x="1797627" y="2462644"/>
            <a:ext cx="1496291" cy="4395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Comparison among 3C and its derived methods.">
            <a:extLst>
              <a:ext uri="{FF2B5EF4-FFF2-40B4-BE49-F238E27FC236}">
                <a16:creationId xmlns:a16="http://schemas.microsoft.com/office/drawing/2014/main" id="{0F3FC522-87D4-021D-8651-314A9554DB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7" t="8787" r="1869" b="65909"/>
          <a:stretch/>
        </p:blipFill>
        <p:spPr bwMode="auto">
          <a:xfrm>
            <a:off x="1797627" y="727364"/>
            <a:ext cx="8302336" cy="1735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73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D1C3D-3B2A-F17D-0B30-F06E65608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0701E26-2471-9C1D-EC13-04B9C13E2E74}"/>
              </a:ext>
            </a:extLst>
          </p:cNvPr>
          <p:cNvSpPr txBox="1"/>
          <p:nvPr/>
        </p:nvSpPr>
        <p:spPr>
          <a:xfrm>
            <a:off x="5281517" y="0"/>
            <a:ext cx="69104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Chromatin Conformation Capture Techniques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52D9D8-B539-B1B9-A00E-9B4B72EFDC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743" r="38198" b="17483"/>
          <a:stretch>
            <a:fillRect/>
          </a:stretch>
        </p:blipFill>
        <p:spPr>
          <a:xfrm>
            <a:off x="6096000" y="1111169"/>
            <a:ext cx="4795777" cy="38540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CD3BCB-CC9D-9BBC-105E-27F65EE00C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2517" r="38198"/>
          <a:stretch>
            <a:fillRect/>
          </a:stretch>
        </p:blipFill>
        <p:spPr>
          <a:xfrm>
            <a:off x="6096000" y="4965218"/>
            <a:ext cx="4795777" cy="141038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22F056E-4FCB-FF0F-71D1-AD31751CBC71}"/>
              </a:ext>
            </a:extLst>
          </p:cNvPr>
          <p:cNvSpPr txBox="1"/>
          <p:nvPr/>
        </p:nvSpPr>
        <p:spPr>
          <a:xfrm>
            <a:off x="7809262" y="6488668"/>
            <a:ext cx="4382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Azambuja and Simoes-Costa. 2021. PLOS gen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DD8099-FB85-4E09-52B2-6A347FD01A41}"/>
              </a:ext>
            </a:extLst>
          </p:cNvPr>
          <p:cNvSpPr txBox="1"/>
          <p:nvPr/>
        </p:nvSpPr>
        <p:spPr>
          <a:xfrm>
            <a:off x="0" y="6488668"/>
            <a:ext cx="27338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Dekker, et al. 2002. Science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AC9D249-2F9F-A2E4-117D-55C56EDCE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879" y="2025650"/>
            <a:ext cx="4102100" cy="280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516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7E162-6432-D84E-923E-4DF765B6D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90376A9-D35F-A657-B42C-759873966792}"/>
              </a:ext>
            </a:extLst>
          </p:cNvPr>
          <p:cNvSpPr txBox="1"/>
          <p:nvPr/>
        </p:nvSpPr>
        <p:spPr>
          <a:xfrm>
            <a:off x="5281517" y="0"/>
            <a:ext cx="69104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Chromatin Conformation Capture Techniques</a:t>
            </a:r>
          </a:p>
        </p:txBody>
      </p:sp>
      <p:pic>
        <p:nvPicPr>
          <p:cNvPr id="3" name="Picture 2" descr="Comparison among 3C and its derived methods.">
            <a:extLst>
              <a:ext uri="{FF2B5EF4-FFF2-40B4-BE49-F238E27FC236}">
                <a16:creationId xmlns:a16="http://schemas.microsoft.com/office/drawing/2014/main" id="{3D205DE6-A9DA-9268-3A3F-AD4A805CDA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61" t="34090" r="34252" b="1818"/>
          <a:stretch/>
        </p:blipFill>
        <p:spPr bwMode="auto">
          <a:xfrm>
            <a:off x="5974770" y="2462642"/>
            <a:ext cx="1340427" cy="4395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Comparison among 3C and its derived methods.">
            <a:extLst>
              <a:ext uri="{FF2B5EF4-FFF2-40B4-BE49-F238E27FC236}">
                <a16:creationId xmlns:a16="http://schemas.microsoft.com/office/drawing/2014/main" id="{AFB18865-8ECE-AF65-2BA1-C4F3AE5037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74" t="34090" r="49839" b="606"/>
          <a:stretch/>
        </p:blipFill>
        <p:spPr bwMode="auto">
          <a:xfrm>
            <a:off x="4634344" y="2462643"/>
            <a:ext cx="1340428" cy="4478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Comparison among 3C and its derived methods.">
            <a:extLst>
              <a:ext uri="{FF2B5EF4-FFF2-40B4-BE49-F238E27FC236}">
                <a16:creationId xmlns:a16="http://schemas.microsoft.com/office/drawing/2014/main" id="{D08572CE-FDB0-1ADA-4262-285D9B5CDA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86" t="34090" r="65426" b="1818"/>
          <a:stretch/>
        </p:blipFill>
        <p:spPr bwMode="auto">
          <a:xfrm>
            <a:off x="3293917" y="2462644"/>
            <a:ext cx="1340427" cy="4395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Comparison among 3C and its derived methods.">
            <a:extLst>
              <a:ext uri="{FF2B5EF4-FFF2-40B4-BE49-F238E27FC236}">
                <a16:creationId xmlns:a16="http://schemas.microsoft.com/office/drawing/2014/main" id="{E69F4F04-A5CE-5DD2-C3C3-53A21B331A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7" t="34090" r="81014" b="1818"/>
          <a:stretch/>
        </p:blipFill>
        <p:spPr bwMode="auto">
          <a:xfrm>
            <a:off x="1797627" y="2462644"/>
            <a:ext cx="1496291" cy="4395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Comparison among 3C and its derived methods.">
            <a:extLst>
              <a:ext uri="{FF2B5EF4-FFF2-40B4-BE49-F238E27FC236}">
                <a16:creationId xmlns:a16="http://schemas.microsoft.com/office/drawing/2014/main" id="{40B1AB7F-0D29-1368-EC45-2D118BF206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7" t="8787" r="1869" b="65909"/>
          <a:stretch/>
        </p:blipFill>
        <p:spPr bwMode="auto">
          <a:xfrm>
            <a:off x="1797627" y="727364"/>
            <a:ext cx="8302336" cy="1735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omparison among 3C and its derived methods.">
            <a:extLst>
              <a:ext uri="{FF2B5EF4-FFF2-40B4-BE49-F238E27FC236}">
                <a16:creationId xmlns:a16="http://schemas.microsoft.com/office/drawing/2014/main" id="{E6BF2760-224C-45F3-1491-8C06806DD8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748" t="34090" r="18665" b="1818"/>
          <a:stretch/>
        </p:blipFill>
        <p:spPr bwMode="auto">
          <a:xfrm>
            <a:off x="7315195" y="2462642"/>
            <a:ext cx="1340427" cy="4395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Comparison among 3C and its derived methods.">
            <a:extLst>
              <a:ext uri="{FF2B5EF4-FFF2-40B4-BE49-F238E27FC236}">
                <a16:creationId xmlns:a16="http://schemas.microsoft.com/office/drawing/2014/main" id="{028D01F7-25B7-2E74-C35F-94DF952F48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335" t="34090" r="1869" b="1818"/>
          <a:stretch/>
        </p:blipFill>
        <p:spPr bwMode="auto">
          <a:xfrm>
            <a:off x="8655619" y="2462642"/>
            <a:ext cx="1444343" cy="4395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068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t="3340" r="35529"/>
          <a:stretch/>
        </p:blipFill>
        <p:spPr>
          <a:xfrm>
            <a:off x="729166" y="933815"/>
            <a:ext cx="6370134" cy="56346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59696" y="6488668"/>
            <a:ext cx="3732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ea typeface="Arial" charset="0"/>
                <a:cs typeface="Arial" charset="0"/>
              </a:rPr>
              <a:t>Servant, et al. Genome Biology (2015)</a:t>
            </a:r>
          </a:p>
        </p:txBody>
      </p:sp>
      <p:sp>
        <p:nvSpPr>
          <p:cNvPr id="7" name="Rectangle 6"/>
          <p:cNvSpPr/>
          <p:nvPr/>
        </p:nvSpPr>
        <p:spPr>
          <a:xfrm>
            <a:off x="4864100" y="739121"/>
            <a:ext cx="2298700" cy="24866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45298" t="3960" b="46328"/>
          <a:stretch/>
        </p:blipFill>
        <p:spPr>
          <a:xfrm>
            <a:off x="6477000" y="933815"/>
            <a:ext cx="5404934" cy="28978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88D04DD-10E6-6102-CBBF-481FD6213690}"/>
              </a:ext>
            </a:extLst>
          </p:cNvPr>
          <p:cNvSpPr txBox="1"/>
          <p:nvPr/>
        </p:nvSpPr>
        <p:spPr>
          <a:xfrm>
            <a:off x="2002515" y="0"/>
            <a:ext cx="10189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x-none" sz="2800" b="1" dirty="0" err="1">
                <a:solidFill>
                  <a:schemeClr val="tx1">
                    <a:lumMod val="65000"/>
                    <a:lumOff val="35000"/>
                  </a:schemeClr>
                </a:solidFill>
                <a:sym typeface="Arial" charset="0"/>
              </a:rPr>
              <a:t>HiCPRO</a:t>
            </a:r>
            <a:r>
              <a:rPr lang="en-US" altLang="x-none" sz="2800" b="1" dirty="0">
                <a:solidFill>
                  <a:schemeClr val="tx1">
                    <a:lumMod val="65000"/>
                    <a:lumOff val="35000"/>
                  </a:schemeClr>
                </a:solidFill>
                <a:sym typeface="Arial" charset="0"/>
              </a:rPr>
              <a:t> pipeline</a:t>
            </a:r>
          </a:p>
        </p:txBody>
      </p:sp>
    </p:spTree>
    <p:extLst>
      <p:ext uri="{BB962C8B-B14F-4D97-AF65-F5344CB8AC3E}">
        <p14:creationId xmlns:p14="http://schemas.microsoft.com/office/powerpoint/2010/main" val="2058266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in graphic">
            <a:extLst>
              <a:ext uri="{FF2B5EF4-FFF2-40B4-BE49-F238E27FC236}">
                <a16:creationId xmlns:a16="http://schemas.microsoft.com/office/drawing/2014/main" id="{194A726B-A8BF-C3BF-A4DA-07D4E69BA82F}"/>
              </a:ext>
            </a:extLst>
          </p:cNvPr>
          <p:cNvPicPr/>
          <p:nvPr/>
        </p:nvPicPr>
        <p:blipFill>
          <a:blip r:embed="rId2"/>
          <a:srcRect b="76219"/>
          <a:stretch>
            <a:fillRect/>
          </a:stretch>
        </p:blipFill>
        <p:spPr>
          <a:xfrm>
            <a:off x="0" y="2052893"/>
            <a:ext cx="12265306" cy="3466457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898777-12A7-B351-C8CF-17D3B461BAA3}"/>
              </a:ext>
            </a:extLst>
          </p:cNvPr>
          <p:cNvSpPr txBox="1"/>
          <p:nvPr/>
        </p:nvSpPr>
        <p:spPr>
          <a:xfrm>
            <a:off x="2002515" y="0"/>
            <a:ext cx="10189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x-none" sz="2800" b="1" dirty="0" err="1">
                <a:solidFill>
                  <a:schemeClr val="tx1">
                    <a:lumMod val="65000"/>
                    <a:lumOff val="35000"/>
                  </a:schemeClr>
                </a:solidFill>
                <a:sym typeface="Arial" charset="0"/>
              </a:rPr>
              <a:t>HiC</a:t>
            </a:r>
            <a:endParaRPr lang="en-US" altLang="x-none" sz="2800" b="1" dirty="0">
              <a:solidFill>
                <a:schemeClr val="tx1">
                  <a:lumMod val="65000"/>
                  <a:lumOff val="35000"/>
                </a:schemeClr>
              </a:solidFill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44622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in graphic">
            <a:extLst>
              <a:ext uri="{FF2B5EF4-FFF2-40B4-BE49-F238E27FC236}">
                <a16:creationId xmlns:a16="http://schemas.microsoft.com/office/drawing/2014/main" id="{BC2BC3A0-1286-9282-79F0-2A7E1685EBB8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2708478" y="643452"/>
            <a:ext cx="7338348" cy="5845216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53F82FB-185D-6806-235C-712AD890A51A}"/>
              </a:ext>
            </a:extLst>
          </p:cNvPr>
          <p:cNvSpPr txBox="1"/>
          <p:nvPr/>
        </p:nvSpPr>
        <p:spPr>
          <a:xfrm>
            <a:off x="5281517" y="0"/>
            <a:ext cx="69104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Chromatin Conformation Capture Techniques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E74956-DF4D-AEC6-6BBB-8D1B437802D7}"/>
              </a:ext>
            </a:extLst>
          </p:cNvPr>
          <p:cNvSpPr txBox="1"/>
          <p:nvPr/>
        </p:nvSpPr>
        <p:spPr>
          <a:xfrm>
            <a:off x="8451424" y="6488668"/>
            <a:ext cx="37405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Goel and Hansen. 2020. WIRE Dev Bio</a:t>
            </a:r>
          </a:p>
        </p:txBody>
      </p:sp>
    </p:spTree>
    <p:extLst>
      <p:ext uri="{BB962C8B-B14F-4D97-AF65-F5344CB8AC3E}">
        <p14:creationId xmlns:p14="http://schemas.microsoft.com/office/powerpoint/2010/main" val="11278935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BFE664-A0AB-7647-B49B-458494B94F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014" t="47572"/>
          <a:stretch/>
        </p:blipFill>
        <p:spPr>
          <a:xfrm>
            <a:off x="7091832" y="3429000"/>
            <a:ext cx="3976217" cy="24902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8F4A0C-E485-B741-A78A-32173A2673EE}"/>
              </a:ext>
            </a:extLst>
          </p:cNvPr>
          <p:cNvSpPr txBox="1"/>
          <p:nvPr/>
        </p:nvSpPr>
        <p:spPr>
          <a:xfrm>
            <a:off x="2002515" y="0"/>
            <a:ext cx="10189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x-none" sz="2800" b="1" dirty="0" err="1">
                <a:solidFill>
                  <a:schemeClr val="tx1">
                    <a:lumMod val="65000"/>
                    <a:lumOff val="35000"/>
                  </a:schemeClr>
                </a:solidFill>
                <a:sym typeface="Arial" charset="0"/>
              </a:rPr>
              <a:t>HiChip</a:t>
            </a:r>
            <a:r>
              <a:rPr lang="en-US" altLang="x-none" sz="2800" b="1" dirty="0">
                <a:solidFill>
                  <a:schemeClr val="tx1">
                    <a:lumMod val="65000"/>
                    <a:lumOff val="35000"/>
                  </a:schemeClr>
                </a:solidFill>
                <a:sym typeface="Arial" charset="0"/>
              </a:rPr>
              <a:t> overview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F893B7-E699-FE4B-8326-6971903EB7C1}"/>
              </a:ext>
            </a:extLst>
          </p:cNvPr>
          <p:cNvSpPr txBox="1"/>
          <p:nvPr/>
        </p:nvSpPr>
        <p:spPr>
          <a:xfrm>
            <a:off x="8215783" y="6488668"/>
            <a:ext cx="397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 err="1">
                <a:ea typeface="Arial" charset="0"/>
                <a:cs typeface="Arial" charset="0"/>
              </a:rPr>
              <a:t>Mumbach</a:t>
            </a:r>
            <a:r>
              <a:rPr lang="en-US" dirty="0">
                <a:ea typeface="Arial" charset="0"/>
                <a:cs typeface="Arial" charset="0"/>
              </a:rPr>
              <a:t>, et al. Nature Methods (2016)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7CDDD4-9E3A-C321-F321-E853F078FD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764" t="47572" r="37216"/>
          <a:stretch/>
        </p:blipFill>
        <p:spPr>
          <a:xfrm>
            <a:off x="4083626" y="3429000"/>
            <a:ext cx="3283529" cy="24902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919F36-86DC-6138-0627-8A5AEC0ADA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7572" r="70237"/>
          <a:stretch/>
        </p:blipFill>
        <p:spPr>
          <a:xfrm>
            <a:off x="1123950" y="3429000"/>
            <a:ext cx="2959677" cy="24902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D3B9F9-7C31-B1EE-BCF4-9C263E366E8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991" b="52429"/>
          <a:stretch/>
        </p:blipFill>
        <p:spPr>
          <a:xfrm>
            <a:off x="8581156" y="1169440"/>
            <a:ext cx="2486894" cy="22595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A8CAA4-5335-0A6D-4E42-75066574F8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0" r="24991" b="52429"/>
          <a:stretch/>
        </p:blipFill>
        <p:spPr>
          <a:xfrm>
            <a:off x="6095998" y="1169440"/>
            <a:ext cx="2486893" cy="22595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39A5ABA-D8A1-C654-7697-BB40B2512B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344" r="50000" b="52429"/>
          <a:stretch/>
        </p:blipFill>
        <p:spPr>
          <a:xfrm>
            <a:off x="3345872" y="1169440"/>
            <a:ext cx="2750127" cy="22595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0209C0D-6B33-EAD2-658F-21C77CCDCB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6924" b="57460"/>
          <a:stretch/>
        </p:blipFill>
        <p:spPr>
          <a:xfrm>
            <a:off x="1123950" y="1169440"/>
            <a:ext cx="2294659" cy="202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879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A62DC-131C-E292-4DE5-9A9806D22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24CB016-1DF2-1213-C4FA-4192CB29D7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0807" r="35529" b="-1"/>
          <a:stretch>
            <a:fillRect/>
          </a:stretch>
        </p:blipFill>
        <p:spPr>
          <a:xfrm>
            <a:off x="740779" y="5254905"/>
            <a:ext cx="6370134" cy="11188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C41948-8493-AB0F-3933-878E6508DD4D}"/>
              </a:ext>
            </a:extLst>
          </p:cNvPr>
          <p:cNvSpPr txBox="1"/>
          <p:nvPr/>
        </p:nvSpPr>
        <p:spPr>
          <a:xfrm>
            <a:off x="8459696" y="6488668"/>
            <a:ext cx="3732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ea typeface="Arial" charset="0"/>
                <a:cs typeface="Arial" charset="0"/>
              </a:rPr>
              <a:t>Servant, et al. Genome Biology (2015)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78C2DA-1D7B-970A-5E84-6C66C90273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298" t="3960" b="46328"/>
          <a:stretch/>
        </p:blipFill>
        <p:spPr>
          <a:xfrm>
            <a:off x="6653933" y="1104139"/>
            <a:ext cx="5404934" cy="28978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F54CF37-7CF4-5633-3B19-663B84192FD1}"/>
              </a:ext>
            </a:extLst>
          </p:cNvPr>
          <p:cNvSpPr txBox="1"/>
          <p:nvPr/>
        </p:nvSpPr>
        <p:spPr>
          <a:xfrm>
            <a:off x="2002515" y="0"/>
            <a:ext cx="10189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x-none" sz="2800" b="1" dirty="0" err="1">
                <a:solidFill>
                  <a:schemeClr val="tx1">
                    <a:lumMod val="65000"/>
                    <a:lumOff val="35000"/>
                  </a:schemeClr>
                </a:solidFill>
                <a:sym typeface="Arial" charset="0"/>
              </a:rPr>
              <a:t>HiCPRO</a:t>
            </a:r>
            <a:r>
              <a:rPr lang="en-US" altLang="x-none" sz="2800" b="1" dirty="0">
                <a:solidFill>
                  <a:schemeClr val="tx1">
                    <a:lumMod val="65000"/>
                    <a:lumOff val="35000"/>
                  </a:schemeClr>
                </a:solidFill>
                <a:sym typeface="Arial" charset="0"/>
              </a:rPr>
              <a:t> pipeline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2E6917-A5AB-9661-9C4D-5086477D6C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726" t="47648" r="35529" b="19193"/>
          <a:stretch>
            <a:fillRect/>
          </a:stretch>
        </p:blipFill>
        <p:spPr>
          <a:xfrm>
            <a:off x="2986267" y="3321933"/>
            <a:ext cx="4124645" cy="19329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1D75CDB-92D7-FFF0-7921-C378C100F7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7648" r="76103" b="20781"/>
          <a:stretch>
            <a:fillRect/>
          </a:stretch>
        </p:blipFill>
        <p:spPr>
          <a:xfrm>
            <a:off x="740779" y="3321933"/>
            <a:ext cx="2361235" cy="18403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A8BA8C-6E8A-1A4C-EDD2-96D46431E3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40" r="67199" b="52352"/>
          <a:stretch>
            <a:fillRect/>
          </a:stretch>
        </p:blipFill>
        <p:spPr>
          <a:xfrm>
            <a:off x="740779" y="739121"/>
            <a:ext cx="3240911" cy="258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8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D11CF7F-7F5F-6C4B-B866-1731ABBE61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3577"/>
          <a:stretch/>
        </p:blipFill>
        <p:spPr>
          <a:xfrm>
            <a:off x="659130" y="852095"/>
            <a:ext cx="3661723" cy="37084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D74991-662E-3245-8C39-F170F8EF8E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0670" y="616315"/>
            <a:ext cx="6172200" cy="61722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8C66C07-C9E1-DB4A-B62F-98F538A831E7}"/>
              </a:ext>
            </a:extLst>
          </p:cNvPr>
          <p:cNvSpPr/>
          <p:nvPr/>
        </p:nvSpPr>
        <p:spPr>
          <a:xfrm>
            <a:off x="3909060" y="1040130"/>
            <a:ext cx="788670" cy="30060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F39C92-550A-FEB8-79FC-E40369CD314C}"/>
              </a:ext>
            </a:extLst>
          </p:cNvPr>
          <p:cNvSpPr txBox="1"/>
          <p:nvPr/>
        </p:nvSpPr>
        <p:spPr>
          <a:xfrm>
            <a:off x="2002515" y="0"/>
            <a:ext cx="10189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x-none" sz="2800" b="1" dirty="0" err="1">
                <a:solidFill>
                  <a:schemeClr val="tx1">
                    <a:lumMod val="65000"/>
                    <a:lumOff val="35000"/>
                  </a:schemeClr>
                </a:solidFill>
                <a:sym typeface="Arial" charset="0"/>
              </a:rPr>
              <a:t>HiCPRO</a:t>
            </a:r>
            <a:r>
              <a:rPr lang="en-US" altLang="x-none" sz="2800" b="1" dirty="0">
                <a:solidFill>
                  <a:schemeClr val="tx1">
                    <a:lumMod val="65000"/>
                    <a:lumOff val="35000"/>
                  </a:schemeClr>
                </a:solidFill>
                <a:sym typeface="Arial" charset="0"/>
              </a:rPr>
              <a:t> QC</a:t>
            </a:r>
          </a:p>
        </p:txBody>
      </p:sp>
    </p:spTree>
    <p:extLst>
      <p:ext uri="{BB962C8B-B14F-4D97-AF65-F5344CB8AC3E}">
        <p14:creationId xmlns:p14="http://schemas.microsoft.com/office/powerpoint/2010/main" val="22763869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053DCC1-EC75-D147-855F-A006B5C2C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043" y="1182697"/>
            <a:ext cx="6289648" cy="44926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A071E8C-4359-834B-8FCE-7C4EE84F9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259" y="807700"/>
            <a:ext cx="5280660" cy="528066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E86A00-B9B8-3D8F-2ABD-F78C9E7E0946}"/>
              </a:ext>
            </a:extLst>
          </p:cNvPr>
          <p:cNvSpPr txBox="1"/>
          <p:nvPr/>
        </p:nvSpPr>
        <p:spPr>
          <a:xfrm>
            <a:off x="2002515" y="0"/>
            <a:ext cx="10189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x-none" sz="2800" b="1" dirty="0" err="1">
                <a:solidFill>
                  <a:schemeClr val="tx1">
                    <a:lumMod val="65000"/>
                    <a:lumOff val="35000"/>
                  </a:schemeClr>
                </a:solidFill>
                <a:sym typeface="Arial" charset="0"/>
              </a:rPr>
              <a:t>HiCPRO</a:t>
            </a:r>
            <a:r>
              <a:rPr lang="en-US" altLang="x-none" sz="2800" b="1" dirty="0">
                <a:solidFill>
                  <a:schemeClr val="tx1">
                    <a:lumMod val="65000"/>
                    <a:lumOff val="35000"/>
                  </a:schemeClr>
                </a:solidFill>
                <a:sym typeface="Arial" charset="0"/>
              </a:rPr>
              <a:t> QC</a:t>
            </a:r>
          </a:p>
        </p:txBody>
      </p:sp>
    </p:spTree>
    <p:extLst>
      <p:ext uri="{BB962C8B-B14F-4D97-AF65-F5344CB8AC3E}">
        <p14:creationId xmlns:p14="http://schemas.microsoft.com/office/powerpoint/2010/main" val="31390803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2150AE7-BAF5-F7B7-FBE0-4F88A8FAD0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929" r="62024"/>
          <a:stretch>
            <a:fillRect/>
          </a:stretch>
        </p:blipFill>
        <p:spPr>
          <a:xfrm>
            <a:off x="9583840" y="2465257"/>
            <a:ext cx="2473203" cy="25943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D6BBF0-8149-878B-8339-BD6162A61A0F}"/>
              </a:ext>
            </a:extLst>
          </p:cNvPr>
          <p:cNvSpPr txBox="1"/>
          <p:nvPr/>
        </p:nvSpPr>
        <p:spPr>
          <a:xfrm>
            <a:off x="7917240" y="6488668"/>
            <a:ext cx="4274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Azambuja and Simoes-Costa, 2021. Dev Cell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644DD0-24E6-EC1A-8BB3-B6236D0577FC}"/>
              </a:ext>
            </a:extLst>
          </p:cNvPr>
          <p:cNvSpPr txBox="1"/>
          <p:nvPr/>
        </p:nvSpPr>
        <p:spPr>
          <a:xfrm>
            <a:off x="2463479" y="0"/>
            <a:ext cx="97285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Mapping of tissue-specific enhancer-promoter contacts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81D97A-9C87-06ED-6467-B48071692B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0312" b="68758"/>
          <a:stretch>
            <a:fillRect/>
          </a:stretch>
        </p:blipFill>
        <p:spPr>
          <a:xfrm>
            <a:off x="824440" y="2357787"/>
            <a:ext cx="2561256" cy="24286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03A67C-0E75-BA4A-A908-979E5A4FE0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31921" r="-2534" b="32084"/>
          <a:stretch>
            <a:fillRect/>
          </a:stretch>
        </p:blipFill>
        <p:spPr>
          <a:xfrm>
            <a:off x="3327444" y="2357787"/>
            <a:ext cx="6256396" cy="2645678"/>
          </a:xfrm>
          <a:prstGeom prst="rect">
            <a:avLst/>
          </a:prstGeom>
        </p:spPr>
      </p:pic>
      <p:pic>
        <p:nvPicPr>
          <p:cNvPr id="9" name="Picture 8" descr="A close-up of a road&#10;&#10;Description automatically generated with low confidence">
            <a:extLst>
              <a:ext uri="{FF2B5EF4-FFF2-40B4-BE49-F238E27FC236}">
                <a16:creationId xmlns:a16="http://schemas.microsoft.com/office/drawing/2014/main" id="{EB862D6A-1A7B-722B-5384-D0185E614C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64" t="29573" b="33911"/>
          <a:stretch/>
        </p:blipFill>
        <p:spPr>
          <a:xfrm rot="5400000">
            <a:off x="-990820" y="3108458"/>
            <a:ext cx="2829943" cy="84830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8F60D14-69BC-C0E5-03A2-86BF775685C2}"/>
              </a:ext>
            </a:extLst>
          </p:cNvPr>
          <p:cNvSpPr/>
          <p:nvPr/>
        </p:nvSpPr>
        <p:spPr>
          <a:xfrm rot="21345620">
            <a:off x="222187" y="2133325"/>
            <a:ext cx="207682" cy="71736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C24C22-6341-1C3F-487F-FC2CE67AC95C}"/>
              </a:ext>
            </a:extLst>
          </p:cNvPr>
          <p:cNvSpPr/>
          <p:nvPr/>
        </p:nvSpPr>
        <p:spPr>
          <a:xfrm>
            <a:off x="109464" y="2150859"/>
            <a:ext cx="619741" cy="2635609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3044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F9A63-4403-E08A-B614-9F937D2E5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248DAF-1970-7FEF-D8A2-AF3AC9912574}"/>
              </a:ext>
            </a:extLst>
          </p:cNvPr>
          <p:cNvSpPr txBox="1"/>
          <p:nvPr/>
        </p:nvSpPr>
        <p:spPr>
          <a:xfrm>
            <a:off x="9421241" y="6488668"/>
            <a:ext cx="2770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Krietenstein</a:t>
            </a:r>
            <a:r>
              <a:rPr lang="en-US" dirty="0"/>
              <a:t>, 2020. Mol Cell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4E6D8C-6BDB-0DBB-2BC2-2E57BB7E55D2}"/>
              </a:ext>
            </a:extLst>
          </p:cNvPr>
          <p:cNvSpPr txBox="1"/>
          <p:nvPr/>
        </p:nvSpPr>
        <p:spPr>
          <a:xfrm>
            <a:off x="2463479" y="0"/>
            <a:ext cx="972852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Ultrastructural Details of Chromosome Architecture</a:t>
            </a:r>
          </a:p>
          <a:p>
            <a:pPr algn="r"/>
            <a:r>
              <a:rPr lang="en-US" sz="2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MicroC</a:t>
            </a:r>
            <a:endParaRPr lang="en-US" sz="2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FE11E1-2658-C0A5-E0B0-3C930483F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418" y="766140"/>
            <a:ext cx="5749442" cy="5749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8272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B9190-943D-6753-1002-9D33E4F8A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CA4B6A-F40E-4436-D1B5-578EC2EE5B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615" t="5314" r="27784" b="55270"/>
          <a:stretch>
            <a:fillRect/>
          </a:stretch>
        </p:blipFill>
        <p:spPr>
          <a:xfrm>
            <a:off x="6301602" y="1498160"/>
            <a:ext cx="5477210" cy="278447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12268E-6C34-AA80-6D02-C947C04E67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0312" b="68758"/>
          <a:stretch>
            <a:fillRect/>
          </a:stretch>
        </p:blipFill>
        <p:spPr>
          <a:xfrm rot="18878789">
            <a:off x="1070049" y="2538279"/>
            <a:ext cx="3481342" cy="33011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079B95-4041-98B6-0523-A10ABC3E76F9}"/>
              </a:ext>
            </a:extLst>
          </p:cNvPr>
          <p:cNvSpPr txBox="1"/>
          <p:nvPr/>
        </p:nvSpPr>
        <p:spPr>
          <a:xfrm>
            <a:off x="2048719" y="1313494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H3K27ac - </a:t>
            </a:r>
            <a:r>
              <a:rPr lang="en-US" b="1" dirty="0" err="1"/>
              <a:t>HiChIP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BBB552-A8BC-817F-80C4-71ECDE89EA3B}"/>
              </a:ext>
            </a:extLst>
          </p:cNvPr>
          <p:cNvSpPr txBox="1"/>
          <p:nvPr/>
        </p:nvSpPr>
        <p:spPr>
          <a:xfrm>
            <a:off x="8317142" y="1330623"/>
            <a:ext cx="933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Micro-C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FD9DC2-343E-F29F-73B6-50F0E3DA0751}"/>
              </a:ext>
            </a:extLst>
          </p:cNvPr>
          <p:cNvSpPr txBox="1"/>
          <p:nvPr/>
        </p:nvSpPr>
        <p:spPr>
          <a:xfrm>
            <a:off x="2463479" y="0"/>
            <a:ext cx="972852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Ultrastructural Details of Chromosome Architecture</a:t>
            </a:r>
          </a:p>
          <a:p>
            <a:pPr algn="r"/>
            <a:r>
              <a:rPr lang="en-US" sz="28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MicroC</a:t>
            </a:r>
            <a:endParaRPr lang="en-US" sz="28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56145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9B202-B5EA-098F-5309-89E1BC62D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B741D1-A954-6D6E-9DB1-654A17C5C83C}"/>
              </a:ext>
            </a:extLst>
          </p:cNvPr>
          <p:cNvSpPr/>
          <p:nvPr/>
        </p:nvSpPr>
        <p:spPr>
          <a:xfrm>
            <a:off x="0" y="3741251"/>
            <a:ext cx="3938155" cy="25873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4BDAA6-BF77-0389-FF92-34755A7BA27D}"/>
              </a:ext>
            </a:extLst>
          </p:cNvPr>
          <p:cNvSpPr/>
          <p:nvPr/>
        </p:nvSpPr>
        <p:spPr>
          <a:xfrm>
            <a:off x="0" y="841664"/>
            <a:ext cx="3938155" cy="25873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0A780C-967E-BA3D-20AC-D7E056390306}"/>
              </a:ext>
            </a:extLst>
          </p:cNvPr>
          <p:cNvSpPr/>
          <p:nvPr/>
        </p:nvSpPr>
        <p:spPr>
          <a:xfrm>
            <a:off x="4126923" y="841664"/>
            <a:ext cx="3938155" cy="25873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DA6F20-1311-EB6B-2274-8BF1F84FD84D}"/>
              </a:ext>
            </a:extLst>
          </p:cNvPr>
          <p:cNvSpPr/>
          <p:nvPr/>
        </p:nvSpPr>
        <p:spPr>
          <a:xfrm>
            <a:off x="8253845" y="841664"/>
            <a:ext cx="3938155" cy="25873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3FD814-DD3F-4484-23C6-4A5A95927EDD}"/>
              </a:ext>
            </a:extLst>
          </p:cNvPr>
          <p:cNvSpPr txBox="1"/>
          <p:nvPr/>
        </p:nvSpPr>
        <p:spPr>
          <a:xfrm>
            <a:off x="7892490" y="0"/>
            <a:ext cx="42995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8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Topics covered - Techniques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7D6ACA-85BA-6ADA-16CD-E13B4AD913C4}"/>
              </a:ext>
            </a:extLst>
          </p:cNvPr>
          <p:cNvSpPr txBox="1"/>
          <p:nvPr/>
        </p:nvSpPr>
        <p:spPr>
          <a:xfrm>
            <a:off x="1788677" y="841664"/>
            <a:ext cx="21474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8B1874"/>
                </a:solidFill>
              </a:rPr>
              <a:t>GENE EXPRESSION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F26C42-0F18-1D2F-A74A-443E29F84F5F}"/>
              </a:ext>
            </a:extLst>
          </p:cNvPr>
          <p:cNvSpPr txBox="1"/>
          <p:nvPr/>
        </p:nvSpPr>
        <p:spPr>
          <a:xfrm>
            <a:off x="5340229" y="826533"/>
            <a:ext cx="27248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D4E00"/>
                </a:solidFill>
              </a:rPr>
              <a:t>EPIGENOMIC REGULATION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7E5530-DF9A-E31B-9881-75ED9432C596}"/>
              </a:ext>
            </a:extLst>
          </p:cNvPr>
          <p:cNvSpPr txBox="1"/>
          <p:nvPr/>
        </p:nvSpPr>
        <p:spPr>
          <a:xfrm>
            <a:off x="9758833" y="826533"/>
            <a:ext cx="24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79640"/>
                </a:solidFill>
              </a:rPr>
              <a:t>DNA-PROTEIN BINDING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F191B4-C245-BEF2-084A-E407D7FBE9B6}"/>
              </a:ext>
            </a:extLst>
          </p:cNvPr>
          <p:cNvSpPr txBox="1"/>
          <p:nvPr/>
        </p:nvSpPr>
        <p:spPr>
          <a:xfrm>
            <a:off x="3017283" y="1434842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RNAseq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B0F817-31A9-8B9D-0F26-A93608A87809}"/>
              </a:ext>
            </a:extLst>
          </p:cNvPr>
          <p:cNvSpPr txBox="1"/>
          <p:nvPr/>
        </p:nvSpPr>
        <p:spPr>
          <a:xfrm>
            <a:off x="7089362" y="1434842"/>
            <a:ext cx="975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ATACseq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79C6B2-AE9F-BB10-BA45-2D8AF5658775}"/>
              </a:ext>
            </a:extLst>
          </p:cNvPr>
          <p:cNvSpPr txBox="1"/>
          <p:nvPr/>
        </p:nvSpPr>
        <p:spPr>
          <a:xfrm>
            <a:off x="1621580" y="2101912"/>
            <a:ext cx="23145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Spatial transcriptomics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E9B3893B-E4C4-D318-99CE-58FB91CF6B3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6551" b="97995" l="64049" r="96169">
                        <a14:foregroundMark x1="65837" y1="90374" x2="65837" y2="90374"/>
                        <a14:foregroundMark x1="66667" y1="95187" x2="66667" y2="95187"/>
                        <a14:foregroundMark x1="82759" y1="94385" x2="82759" y2="94385"/>
                        <a14:foregroundMark x1="84674" y1="98128" x2="84674" y2="98128"/>
                        <a14:foregroundMark x1="74010" y1="94519" x2="74010" y2="94519"/>
                        <a14:foregroundMark x1="75734" y1="94519" x2="75734" y2="94519"/>
                        <a14:foregroundMark x1="64049" y1="94786" x2="64049" y2="94786"/>
                      </a14:backgroundRemoval>
                    </a14:imgEffect>
                  </a14:imgLayer>
                </a14:imgProps>
              </a:ext>
            </a:extLst>
          </a:blip>
          <a:srcRect l="63455" t="51992" r="121"/>
          <a:stretch/>
        </p:blipFill>
        <p:spPr>
          <a:xfrm>
            <a:off x="43960" y="4519019"/>
            <a:ext cx="2874306" cy="180956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B3A999C-251B-5915-4E4A-DBA8220ADD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03" b="98232" l="3728" r="95775">
                        <a14:foregroundMark x1="49544" y1="41026" x2="49544" y2="41026"/>
                        <a14:foregroundMark x1="46065" y1="20248" x2="46065" y2="20248"/>
                        <a14:foregroundMark x1="67523" y1="37843" x2="67523" y2="37843"/>
                        <a14:foregroundMark x1="85915" y1="50575" x2="85915" y2="50575"/>
                        <a14:foregroundMark x1="75062" y1="76304" x2="75062" y2="76304"/>
                        <a14:foregroundMark x1="65369" y1="76304" x2="65369" y2="76304"/>
                        <a14:foregroundMark x1="92046" y1="88683" x2="92046" y2="88683"/>
                        <a14:foregroundMark x1="83264" y1="88683" x2="83264" y2="88683"/>
                        <a14:foregroundMark x1="90638" y1="98408" x2="90638" y2="98408"/>
                        <a14:foregroundMark x1="95775" y1="89655" x2="95775" y2="89655"/>
                        <a14:foregroundMark x1="50621" y1="39523" x2="50621" y2="39523"/>
                        <a14:foregroundMark x1="50621" y1="39523" x2="50621" y2="39523"/>
                        <a14:foregroundMark x1="32726" y1="39523" x2="32726" y2="39523"/>
                        <a14:foregroundMark x1="44656" y1="47480" x2="44656" y2="47480"/>
                        <a14:foregroundMark x1="58575" y1="42263" x2="58575" y2="42263"/>
                        <a14:foregroundMark x1="50621" y1="27144" x2="50621" y2="27144"/>
                        <a14:foregroundMark x1="53770" y1="28294" x2="53770" y2="28294"/>
                        <a14:foregroundMark x1="46893" y1="28028" x2="46893" y2="28028"/>
                        <a14:foregroundMark x1="55178" y1="39257" x2="55178" y2="39257"/>
                        <a14:foregroundMark x1="55758" y1="44739" x2="55758" y2="44739"/>
                        <a14:foregroundMark x1="50290" y1="41026" x2="50290" y2="41026"/>
                        <a14:foregroundMark x1="51781" y1="42263" x2="51781" y2="42263"/>
                        <a14:foregroundMark x1="35874" y1="40141" x2="35874" y2="40141"/>
                        <a14:foregroundMark x1="21375" y1="75685" x2="21375" y2="75685"/>
                        <a14:foregroundMark x1="3728" y1="59240" x2="3728" y2="5924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403120" y="1195865"/>
            <a:ext cx="1892956" cy="1771990"/>
          </a:xfrm>
          <a:prstGeom prst="rect">
            <a:avLst/>
          </a:prstGeom>
        </p:spPr>
      </p:pic>
      <p:pic>
        <p:nvPicPr>
          <p:cNvPr id="31" name="Picture 30" descr="Chart, bar chart&#10;&#10;Description automatically generated">
            <a:extLst>
              <a:ext uri="{FF2B5EF4-FFF2-40B4-BE49-F238E27FC236}">
                <a16:creationId xmlns:a16="http://schemas.microsoft.com/office/drawing/2014/main" id="{9CEC1DE1-4B4B-CD4A-3D3B-663A48D78DA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1749" t="5584" r="20846" b="12153"/>
          <a:stretch/>
        </p:blipFill>
        <p:spPr>
          <a:xfrm>
            <a:off x="101298" y="1342672"/>
            <a:ext cx="1489149" cy="18878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513341-73D0-7263-3FA4-59371C343E18}"/>
              </a:ext>
            </a:extLst>
          </p:cNvPr>
          <p:cNvSpPr txBox="1"/>
          <p:nvPr/>
        </p:nvSpPr>
        <p:spPr>
          <a:xfrm>
            <a:off x="1050141" y="3759647"/>
            <a:ext cx="28859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8B1874"/>
                </a:solidFill>
              </a:rPr>
              <a:t>GENOME ORGANIZATION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ACB742-96BB-E4B4-EB81-CE469838DC59}"/>
              </a:ext>
            </a:extLst>
          </p:cNvPr>
          <p:cNvSpPr txBox="1"/>
          <p:nvPr/>
        </p:nvSpPr>
        <p:spPr>
          <a:xfrm>
            <a:off x="964733" y="4154722"/>
            <a:ext cx="2971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/>
              <a:t>3D genome organization - </a:t>
            </a:r>
            <a:r>
              <a:rPr lang="en-US" dirty="0" err="1"/>
              <a:t>HiC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786950-DE2B-3521-3A00-34FC3073C9B6}"/>
              </a:ext>
            </a:extLst>
          </p:cNvPr>
          <p:cNvSpPr/>
          <p:nvPr/>
        </p:nvSpPr>
        <p:spPr>
          <a:xfrm>
            <a:off x="4126923" y="3741251"/>
            <a:ext cx="3938155" cy="25873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957F98-5D9A-92B8-E530-A34692C0C3BC}"/>
              </a:ext>
            </a:extLst>
          </p:cNvPr>
          <p:cNvSpPr txBox="1"/>
          <p:nvPr/>
        </p:nvSpPr>
        <p:spPr>
          <a:xfrm>
            <a:off x="5895830" y="3759647"/>
            <a:ext cx="2169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D4E00"/>
                </a:solidFill>
              </a:rPr>
              <a:t>ENHANCER ACTIVITY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ED3C87-4B28-FA8C-CA6B-822EF92393AE}"/>
              </a:ext>
            </a:extLst>
          </p:cNvPr>
          <p:cNvSpPr txBox="1"/>
          <p:nvPr/>
        </p:nvSpPr>
        <p:spPr>
          <a:xfrm>
            <a:off x="6405404" y="4132215"/>
            <a:ext cx="15824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eRNA</a:t>
            </a:r>
            <a:r>
              <a:rPr lang="en-US" dirty="0"/>
              <a:t> mapping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0027AC-C267-134B-887B-D6048218DF27}"/>
              </a:ext>
            </a:extLst>
          </p:cNvPr>
          <p:cNvSpPr/>
          <p:nvPr/>
        </p:nvSpPr>
        <p:spPr>
          <a:xfrm>
            <a:off x="8253845" y="3741251"/>
            <a:ext cx="3938155" cy="258733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A87AF4-B6E8-FA38-4BA2-1EA18591281C}"/>
              </a:ext>
            </a:extLst>
          </p:cNvPr>
          <p:cNvSpPr txBox="1"/>
          <p:nvPr/>
        </p:nvSpPr>
        <p:spPr>
          <a:xfrm>
            <a:off x="9304415" y="3759647"/>
            <a:ext cx="2887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79640"/>
                </a:solidFill>
              </a:rPr>
              <a:t>SINGLE-CELL TECHNOLOGIES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436BCAE-465D-6E9A-A380-3266537E4B06}"/>
              </a:ext>
            </a:extLst>
          </p:cNvPr>
          <p:cNvSpPr txBox="1"/>
          <p:nvPr/>
        </p:nvSpPr>
        <p:spPr>
          <a:xfrm>
            <a:off x="8662808" y="4132215"/>
            <a:ext cx="3529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Transcriptomics / </a:t>
            </a:r>
            <a:r>
              <a:rPr lang="en-US" dirty="0" err="1"/>
              <a:t>Multiome</a:t>
            </a:r>
            <a:endParaRPr lang="en-US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14E7666-3DD3-6DFA-FD36-EC686A019F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287501" y="1583527"/>
            <a:ext cx="2314544" cy="132040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924D846-B5C3-0841-574A-8A05A97E90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178798" y="4691345"/>
            <a:ext cx="1929058" cy="1596949"/>
          </a:xfrm>
          <a:prstGeom prst="rect">
            <a:avLst/>
          </a:prstGeom>
        </p:spPr>
      </p:pic>
      <p:pic>
        <p:nvPicPr>
          <p:cNvPr id="35" name="Picture 2" descr="MU DNA Core Facility">
            <a:extLst>
              <a:ext uri="{FF2B5EF4-FFF2-40B4-BE49-F238E27FC236}">
                <a16:creationId xmlns:a16="http://schemas.microsoft.com/office/drawing/2014/main" id="{16A6B6D2-E235-4BDF-64C9-F4802FA566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/>
          <a:srcRect t="2833" r="45640" b="48768"/>
          <a:stretch>
            <a:fillRect/>
          </a:stretch>
        </p:blipFill>
        <p:spPr bwMode="auto">
          <a:xfrm>
            <a:off x="8284195" y="4795032"/>
            <a:ext cx="3410157" cy="1443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9C09F95-0802-611F-926F-C751094BB083}"/>
              </a:ext>
            </a:extLst>
          </p:cNvPr>
          <p:cNvSpPr txBox="1"/>
          <p:nvPr/>
        </p:nvSpPr>
        <p:spPr>
          <a:xfrm>
            <a:off x="8662808" y="1434842"/>
            <a:ext cx="35291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err="1"/>
              <a:t>ChIPseq</a:t>
            </a:r>
            <a:br>
              <a:rPr lang="en-US" dirty="0"/>
            </a:br>
            <a:r>
              <a:rPr lang="en-US" dirty="0"/>
              <a:t>CUT&amp;RUN</a:t>
            </a:r>
            <a:br>
              <a:rPr lang="en-US" dirty="0"/>
            </a:br>
            <a:r>
              <a:rPr lang="en-US" dirty="0"/>
              <a:t>CUT&amp;TAG</a:t>
            </a:r>
          </a:p>
        </p:txBody>
      </p:sp>
    </p:spTree>
    <p:extLst>
      <p:ext uri="{BB962C8B-B14F-4D97-AF65-F5344CB8AC3E}">
        <p14:creationId xmlns:p14="http://schemas.microsoft.com/office/powerpoint/2010/main" val="1509133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20153</TotalTime>
  <Words>1064</Words>
  <Application>Microsoft Macintosh PowerPoint</Application>
  <PresentationFormat>Widescreen</PresentationFormat>
  <Paragraphs>166</Paragraphs>
  <Slides>31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Aptos</vt:lpstr>
      <vt:lpstr>Arial</vt:lpstr>
      <vt:lpstr>Calibri</vt:lpstr>
      <vt:lpstr>Calibri Light</vt:lpstr>
      <vt:lpstr>Google Sans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Azambuja, Ana</dc:creator>
  <cp:lastModifiedBy>Ana Paula Azambuja</cp:lastModifiedBy>
  <cp:revision>189</cp:revision>
  <dcterms:created xsi:type="dcterms:W3CDTF">2023-06-27T22:45:45Z</dcterms:created>
  <dcterms:modified xsi:type="dcterms:W3CDTF">2026-07-02T20:34:47Z</dcterms:modified>
</cp:coreProperties>
</file>